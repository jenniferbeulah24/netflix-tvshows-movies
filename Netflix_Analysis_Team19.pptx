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6" r:id="rId2"/>
    <p:sldId id="256" r:id="rId3"/>
    <p:sldId id="257" r:id="rId4"/>
    <p:sldId id="258" r:id="rId5"/>
    <p:sldId id="259" r:id="rId6"/>
    <p:sldId id="260" r:id="rId7"/>
    <p:sldId id="261" r:id="rId8"/>
    <p:sldId id="262" r:id="rId9"/>
    <p:sldId id="263" r:id="rId10"/>
    <p:sldId id="264" r:id="rId11"/>
    <p:sldId id="265"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20D1044-39E0-4706-9168-B22FA5372414}" type="datetimeFigureOut">
              <a:rPr lang="en-IN" smtClean="0"/>
              <a:t>02-10-2026</a:t>
            </a:fld>
            <a:endParaRPr lang="en-IN"/>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A3D55C4E-A165-432A-B161-2575C5137DC7}" type="slidenum">
              <a:rPr lang="en-IN" smtClean="0"/>
              <a:t>‹#›</a:t>
            </a:fld>
            <a:endParaRPr lang="en-IN"/>
          </a:p>
        </p:txBody>
      </p:sp>
    </p:spTree>
    <p:extLst>
      <p:ext uri="{BB962C8B-B14F-4D97-AF65-F5344CB8AC3E}">
        <p14:creationId xmlns:p14="http://schemas.microsoft.com/office/powerpoint/2010/main" val="931385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Netflix has a huge global catalog, but it is not clear what makes a title successful or where the library falls short. We used Python-based statistical analysis and visualizations to study content trends, find the factors behind successful shows and movies, and spot gaps. Approach: clean the data, explore it, test relationships with Pearson correlation, then model opportunities.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shows Movie vs TV Show production from 1945 to 2022. From 1945 to 2000, production was very low and stable for both. After 2000, growth started, with Movies always higher than TV Shows. After 2015 there is a huge boom, especially for Movies. Production peaked around 2018-2019 with over 500 Movies. In 2020-2022 there is a sharp drop, likely due to COVID-19 impact.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compares the runtime of TV Shows vs Movies. TV Shows average around 40 minutes, mostly between 25 and 50. Movies average around 100 minutes, mostly between 85 and 115. The blue box shows where most of the content lies. The dots above and below are outliers, meaning unusual runtimes. Movies have more outliers, with some very long movies (up to 240 mins) and some very short ones.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United States leads by a huge margin, with nearly 35-40% of all Netflix titles originating from the US. India ranks second, driven by the massive Bollywood industry and Netflix's growing investment in Indian Originals. The UK, Japan and South Korea form strong regional hubs, reflecting Netflix's push for global, culturally diverse content. Netflix follows a local content strategy, producing in key markets to retain regional subscribers worldwide.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TV-MA dominates TV Shows: the majority of Netflix series are rated for mature audiences only. For Movies, R and TV-14 are the top ratings, confirming adult-oriented storytelling across both formats. Very little content is rated G, PG or TV-Y, so family and children's content is a small fraction of the catalog. Netflix's core strategy is clearly targeted at adult viewers aged 18 and above.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TV Shows maintained a stable average IMDb score of 6.8 to 7.2 across all years. Movies saw a visible dip in average ratings during 2015-2021, Netflix's aggressive catalog expansion phase (grey band). During this period Netflix prioritized volume over quality, adding thousands of films rapidly and pulling the average score down. Post-2021, movie scores show signs of recovering as Netflix began focusing on quality Originals over bulk licensing.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Pearson correlation across four metrics. IMDb and TMDB scores show a moderate link (r = 0.57), so quality ratings agree across platforms. IMDb votes have a weak link with scores (r = 0.19). TMDB popularity is nearly unrelated to scores (r = 0.02 and 0.08). Quality metrics move together, but popularity is separate.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Null hypothesis: no linear relationship between IMDb score and TMDB popularity. Alternative: a relationship exists. We got r = 0.02 and p = 0.1986; since p is above 0.05 we fail to reject the null. The trend is flat and high popularity appears at every score level. A few viral outliers, with popularity above 1000, have mixed scores from about 3.7 to 8.8. Popularity does not predict review quality.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filtered to talent with at least 3 titles, which removes one-hit wonders. The top 10 average about 8.4 to 8.6 IMDb, led by Choi Young-jun. Nine of the ten are actors and Kim Won-seok is the only director. Scores are tightly clustered, so quality is sustained across titles. These are reliable, low-risk talent for Netflix to keep investing 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2"/>
          <p:cNvSpPr txBox="1"/>
          <p:nvPr/>
        </p:nvSpPr>
        <p:spPr>
          <a:xfrm>
            <a:off x="548640" y="1050000"/>
            <a:ext cx="4600000" cy="274320"/>
          </a:xfrm>
          <a:prstGeom prst="rect">
            <a:avLst/>
          </a:prstGeom>
          <a:noFill/>
        </p:spPr>
        <p:txBody>
          <a:bodyPr wrap="square" lIns="0" tIns="0" rIns="0" bIns="0" rtlCol="0" anchor="ctr"/>
          <a:lstStyle/>
          <a:p>
            <a:pPr marL="0" indent="0">
              <a:buNone/>
            </a:pPr>
            <a:r>
              <a:rPr lang="en-US" sz="1200" b="1" spc="400" dirty="0">
                <a:solidFill>
                  <a:srgbClr val="F5333F"/>
                </a:solidFill>
                <a:latin typeface="Arial"/>
                <a:ea typeface="Arial"/>
                <a:cs typeface="Arial"/>
              </a:rPr>
              <a:t>CAPSTONE PROJECT PRESENTATION</a:t>
            </a:r>
          </a:p>
        </p:txBody>
      </p:sp>
      <p:sp>
        <p:nvSpPr>
          <p:cNvPr id="3" name="Text 3"/>
          <p:cNvSpPr txBox="1"/>
          <p:nvPr/>
        </p:nvSpPr>
        <p:spPr>
          <a:xfrm>
            <a:off x="548640" y="1450000"/>
            <a:ext cx="4600000" cy="1500000"/>
          </a:xfrm>
          <a:prstGeom prst="rect">
            <a:avLst/>
          </a:prstGeom>
          <a:noFill/>
        </p:spPr>
        <p:txBody>
          <a:bodyPr wrap="square" lIns="0" tIns="0" rIns="0" bIns="0" rtlCol="0" anchor="t"/>
          <a:lstStyle/>
          <a:p>
            <a:r>
              <a:rPr lang="en-IN" sz="2800" b="1" i="1" dirty="0">
                <a:solidFill>
                  <a:schemeClr val="bg1"/>
                </a:solidFill>
              </a:rPr>
              <a:t>Exploratory Data Analysis of Netflix </a:t>
            </a:r>
            <a:r>
              <a:rPr lang="en-IN" sz="2800" b="1" i="1" dirty="0" err="1">
                <a:solidFill>
                  <a:schemeClr val="bg1"/>
                </a:solidFill>
              </a:rPr>
              <a:t>Catalog</a:t>
            </a:r>
            <a:r>
              <a:rPr lang="en-IN" sz="2800" b="1" i="1" dirty="0">
                <a:solidFill>
                  <a:schemeClr val="bg1"/>
                </a:solidFill>
              </a:rPr>
              <a:t> Trends: Geographical, Demographic, and Quality Insights</a:t>
            </a:r>
            <a:endParaRPr lang="en-US" sz="2800" b="1" i="1" dirty="0">
              <a:solidFill>
                <a:schemeClr val="bg1"/>
              </a:solidFill>
              <a:latin typeface="Arial"/>
              <a:ea typeface="Arial"/>
              <a:cs typeface="Arial"/>
            </a:endParaRPr>
          </a:p>
        </p:txBody>
      </p:sp>
      <p:sp>
        <p:nvSpPr>
          <p:cNvPr id="4" name="Shape 4"/>
          <p:cNvSpPr/>
          <p:nvPr/>
        </p:nvSpPr>
        <p:spPr>
          <a:xfrm>
            <a:off x="548640" y="3300000"/>
            <a:ext cx="2300000" cy="420000"/>
          </a:xfrm>
          <a:prstGeom prst="roundRect">
            <a:avLst>
              <a:gd name="adj" fmla="val 30000"/>
            </a:avLst>
          </a:prstGeom>
          <a:solidFill>
            <a:srgbClr val="2B1416"/>
          </a:solidFill>
          <a:ln w="12700">
            <a:solidFill>
              <a:srgbClr val="E50914"/>
            </a:solidFill>
          </a:ln>
        </p:spPr>
        <p:txBody>
          <a:bodyPr wrap="square" lIns="0" tIns="0" rIns="0" bIns="0" rtlCol="0" anchor="ctr"/>
          <a:lstStyle/>
          <a:p>
            <a:pPr marL="0" indent="0" algn="ctr">
              <a:buNone/>
            </a:pPr>
            <a:r>
              <a:rPr lang="en-US" sz="1400" b="1" spc="300" dirty="0">
                <a:solidFill>
                  <a:srgbClr val="FFFFFF"/>
                </a:solidFill>
                <a:latin typeface="Arial"/>
                <a:ea typeface="Arial"/>
                <a:cs typeface="Arial"/>
              </a:rPr>
              <a:t>TEAM  TECHNOVA</a:t>
            </a:r>
          </a:p>
        </p:txBody>
      </p:sp>
      <p:sp>
        <p:nvSpPr>
          <p:cNvPr id="5" name="Shape 5"/>
          <p:cNvSpPr/>
          <p:nvPr/>
        </p:nvSpPr>
        <p:spPr>
          <a:xfrm>
            <a:off x="5500000" y="900000"/>
            <a:ext cx="3100000" cy="2000000"/>
          </a:xfrm>
          <a:prstGeom prst="roundRect">
            <a:avLst>
              <a:gd name="adj" fmla="val 6000"/>
            </a:avLst>
          </a:prstGeom>
          <a:solidFill>
            <a:srgbClr val="2B1416"/>
          </a:solidFill>
          <a:ln w="12700">
            <a:solidFill>
              <a:srgbClr val="5A2A2E"/>
            </a:solidFill>
          </a:ln>
        </p:spPr>
      </p:sp>
      <p:sp>
        <p:nvSpPr>
          <p:cNvPr id="6" name="Shape 6"/>
          <p:cNvSpPr/>
          <p:nvPr/>
        </p:nvSpPr>
        <p:spPr>
          <a:xfrm>
            <a:off x="5680000" y="1020000"/>
            <a:ext cx="70000" cy="70000"/>
          </a:xfrm>
          <a:prstGeom prst="ellipse">
            <a:avLst/>
          </a:prstGeom>
          <a:solidFill>
            <a:srgbClr val="E50914"/>
          </a:solidFill>
          <a:ln>
            <a:noFill/>
          </a:ln>
        </p:spPr>
      </p:sp>
      <p:sp>
        <p:nvSpPr>
          <p:cNvPr id="7" name="Shape 7"/>
          <p:cNvSpPr/>
          <p:nvPr/>
        </p:nvSpPr>
        <p:spPr>
          <a:xfrm>
            <a:off x="5790000" y="1020000"/>
            <a:ext cx="70000" cy="70000"/>
          </a:xfrm>
          <a:prstGeom prst="ellipse">
            <a:avLst/>
          </a:prstGeom>
          <a:solidFill>
            <a:srgbClr val="5A3A3D"/>
          </a:solidFill>
          <a:ln>
            <a:noFill/>
          </a:ln>
        </p:spPr>
      </p:sp>
      <p:sp>
        <p:nvSpPr>
          <p:cNvPr id="8" name="Shape 8"/>
          <p:cNvSpPr/>
          <p:nvPr/>
        </p:nvSpPr>
        <p:spPr>
          <a:xfrm>
            <a:off x="5900000" y="1020000"/>
            <a:ext cx="70000" cy="70000"/>
          </a:xfrm>
          <a:prstGeom prst="ellipse">
            <a:avLst/>
          </a:prstGeom>
          <a:solidFill>
            <a:srgbClr val="5A3A3D"/>
          </a:solidFill>
          <a:ln>
            <a:noFill/>
          </a:ln>
        </p:spPr>
      </p:sp>
      <p:sp>
        <p:nvSpPr>
          <p:cNvPr id="9" name="Shape 9"/>
          <p:cNvSpPr/>
          <p:nvPr/>
        </p:nvSpPr>
        <p:spPr>
          <a:xfrm>
            <a:off x="6770000" y="1420000"/>
            <a:ext cx="560000" cy="560000"/>
          </a:xfrm>
          <a:prstGeom prst="ellipse">
            <a:avLst/>
          </a:prstGeom>
          <a:solidFill>
            <a:srgbClr val="E50914"/>
          </a:solidFill>
          <a:ln>
            <a:noFill/>
          </a:ln>
        </p:spPr>
      </p:sp>
      <p:sp>
        <p:nvSpPr>
          <p:cNvPr id="201" name="Netflix N bar 201"/>
          <p:cNvSpPr/>
          <p:nvPr/>
        </p:nvSpPr>
        <p:spPr>
          <a:xfrm>
            <a:off x="6935000" y="1545000"/>
            <a:ext cx="58000" cy="310000"/>
          </a:xfrm>
          <a:prstGeom prst="rect">
            <a:avLst/>
          </a:prstGeom>
          <a:solidFill>
            <a:srgbClr val="FFFFFF"/>
          </a:solidFill>
          <a:ln>
            <a:noFill/>
          </a:ln>
        </p:spPr>
      </p:sp>
      <p:sp>
        <p:nvSpPr>
          <p:cNvPr id="202" name="Netflix N bar 202"/>
          <p:cNvSpPr/>
          <p:nvPr/>
        </p:nvSpPr>
        <p:spPr>
          <a:xfrm>
            <a:off x="7107000" y="1545000"/>
            <a:ext cx="58000" cy="310000"/>
          </a:xfrm>
          <a:prstGeom prst="rect">
            <a:avLst/>
          </a:prstGeom>
          <a:solidFill>
            <a:srgbClr val="FFFFFF"/>
          </a:solidFill>
          <a:ln>
            <a:noFill/>
          </a:ln>
        </p:spPr>
      </p:sp>
      <p:sp>
        <p:nvSpPr>
          <p:cNvPr id="203" name="Netflix N diagonal"/>
          <p:cNvSpPr/>
          <p:nvPr/>
        </p:nvSpPr>
        <p:spPr>
          <a:xfrm>
            <a:off x="6935000" y="1545000"/>
            <a:ext cx="230000" cy="310000"/>
          </a:xfrm>
          <a:custGeom>
            <a:avLst/>
            <a:gdLst/>
            <a:ahLst/>
            <a:cxnLst/>
            <a:rect l="0" t="0" r="r" b="b"/>
            <a:pathLst>
              <a:path w="230000" h="310000">
                <a:moveTo>
                  <a:pt x="0" y="0"/>
                </a:moveTo>
                <a:lnTo>
                  <a:pt x="58000" y="0"/>
                </a:lnTo>
                <a:lnTo>
                  <a:pt x="230000" y="310000"/>
                </a:lnTo>
                <a:lnTo>
                  <a:pt x="172000" y="310000"/>
                </a:lnTo>
                <a:close/>
              </a:path>
            </a:pathLst>
          </a:custGeom>
          <a:solidFill>
            <a:srgbClr val="E3D2D3"/>
          </a:solidFill>
          <a:ln>
            <a:noFill/>
          </a:ln>
        </p:spPr>
      </p:sp>
      <p:sp>
        <p:nvSpPr>
          <p:cNvPr id="11" name="Shape 11"/>
          <p:cNvSpPr/>
          <p:nvPr/>
        </p:nvSpPr>
        <p:spPr>
          <a:xfrm>
            <a:off x="5700000" y="2400000"/>
            <a:ext cx="2700000" cy="50000"/>
          </a:xfrm>
          <a:prstGeom prst="roundRect">
            <a:avLst>
              <a:gd name="adj" fmla="val 50000"/>
            </a:avLst>
          </a:prstGeom>
          <a:solidFill>
            <a:srgbClr val="4A2A2D"/>
          </a:solidFill>
          <a:ln>
            <a:noFill/>
          </a:ln>
        </p:spPr>
      </p:sp>
      <p:sp>
        <p:nvSpPr>
          <p:cNvPr id="12" name="Shape 12"/>
          <p:cNvSpPr/>
          <p:nvPr/>
        </p:nvSpPr>
        <p:spPr>
          <a:xfrm>
            <a:off x="5700000" y="2400000"/>
            <a:ext cx="1600000" cy="50000"/>
          </a:xfrm>
          <a:prstGeom prst="roundRect">
            <a:avLst>
              <a:gd name="adj" fmla="val 50000"/>
            </a:avLst>
          </a:prstGeom>
          <a:solidFill>
            <a:srgbClr val="E50914"/>
          </a:solidFill>
          <a:ln>
            <a:noFill/>
          </a:ln>
        </p:spPr>
      </p:sp>
      <p:sp>
        <p:nvSpPr>
          <p:cNvPr id="13" name="Shape 13"/>
          <p:cNvSpPr/>
          <p:nvPr/>
        </p:nvSpPr>
        <p:spPr>
          <a:xfrm>
            <a:off x="7245000" y="2370000"/>
            <a:ext cx="110000" cy="110000"/>
          </a:xfrm>
          <a:prstGeom prst="ellipse">
            <a:avLst/>
          </a:prstGeom>
          <a:solidFill>
            <a:srgbClr val="FFFFFF"/>
          </a:solidFill>
          <a:ln>
            <a:noFill/>
          </a:ln>
        </p:spPr>
      </p:sp>
      <p:pic>
        <p:nvPicPr>
          <p:cNvPr id="14" name="Poster 1" descr="Series poster-style artwork 1"/>
          <p:cNvPicPr>
            <a:picLocks noChangeAspect="1"/>
          </p:cNvPicPr>
          <p:nvPr/>
        </p:nvPicPr>
        <p:blipFill>
          <a:blip r:embed="rId3"/>
          <a:stretch>
            <a:fillRect/>
          </a:stretch>
        </p:blipFill>
        <p:spPr>
          <a:xfrm>
            <a:off x="5500000" y="3150000"/>
            <a:ext cx="950000" cy="1000000"/>
          </a:xfrm>
          <a:prstGeom prst="roundRect">
            <a:avLst>
              <a:gd name="adj" fmla="val 8000"/>
            </a:avLst>
          </a:prstGeom>
          <a:ln w="9525">
            <a:solidFill>
              <a:srgbClr val="4A2A2D"/>
            </a:solidFill>
          </a:ln>
        </p:spPr>
      </p:pic>
      <p:pic>
        <p:nvPicPr>
          <p:cNvPr id="15" name="Poster 2" descr="Series poster-style artwork 2"/>
          <p:cNvPicPr>
            <a:picLocks noChangeAspect="1"/>
          </p:cNvPicPr>
          <p:nvPr/>
        </p:nvPicPr>
        <p:blipFill>
          <a:blip r:embed="rId4"/>
          <a:stretch>
            <a:fillRect/>
          </a:stretch>
        </p:blipFill>
        <p:spPr>
          <a:xfrm>
            <a:off x="6575000" y="3150000"/>
            <a:ext cx="950000" cy="1000000"/>
          </a:xfrm>
          <a:prstGeom prst="roundRect">
            <a:avLst>
              <a:gd name="adj" fmla="val 8000"/>
            </a:avLst>
          </a:prstGeom>
          <a:ln w="9525">
            <a:solidFill>
              <a:srgbClr val="4A2A2D"/>
            </a:solidFill>
          </a:ln>
        </p:spPr>
      </p:pic>
      <p:pic>
        <p:nvPicPr>
          <p:cNvPr id="16" name="Poster 3" descr="Series poster-style artwork 3"/>
          <p:cNvPicPr>
            <a:picLocks noChangeAspect="1"/>
          </p:cNvPicPr>
          <p:nvPr/>
        </p:nvPicPr>
        <p:blipFill>
          <a:blip r:embed="rId5"/>
          <a:stretch>
            <a:fillRect/>
          </a:stretch>
        </p:blipFill>
        <p:spPr>
          <a:xfrm>
            <a:off x="7650000" y="3150000"/>
            <a:ext cx="950000" cy="1000000"/>
          </a:xfrm>
          <a:prstGeom prst="roundRect">
            <a:avLst>
              <a:gd name="adj" fmla="val 8000"/>
            </a:avLst>
          </a:prstGeom>
          <a:ln w="9525">
            <a:solidFill>
              <a:srgbClr val="4A2A2D"/>
            </a:solidFill>
          </a:ln>
        </p:spPr>
      </p:pic>
      <p:sp>
        <p:nvSpPr>
          <p:cNvPr id="17" name="Text 17"/>
          <p:cNvSpPr txBox="1"/>
          <p:nvPr/>
        </p:nvSpPr>
        <p:spPr>
          <a:xfrm>
            <a:off x="548640" y="380000"/>
            <a:ext cx="2400000" cy="330000"/>
          </a:xfrm>
          <a:prstGeom prst="rect">
            <a:avLst/>
          </a:prstGeom>
          <a:noFill/>
        </p:spPr>
        <p:txBody>
          <a:bodyPr wrap="square" lIns="0" tIns="0" rIns="0" bIns="0" rtlCol="0" anchor="ctr"/>
          <a:lstStyle/>
          <a:p>
            <a:pPr marL="0" indent="0">
              <a:buNone/>
            </a:pPr>
            <a:r>
              <a:rPr lang="en-US" sz="2200" b="1" spc="300" dirty="0">
                <a:solidFill>
                  <a:srgbClr val="E50914"/>
                </a:solidFill>
                <a:latin typeface="Arial"/>
                <a:ea typeface="Arial"/>
                <a:cs typeface="Arial"/>
              </a:rPr>
              <a:t>NETFLIX</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marL="0" indent="0">
              <a:buNone/>
            </a:pPr>
            <a:r>
              <a:rPr lang="en-US" sz="1200" b="1" kern="0" spc="400" dirty="0">
                <a:solidFill>
                  <a:srgbClr val="F5333F"/>
                </a:solidFill>
                <a:latin typeface="Arial" pitchFamily="34" charset="0"/>
                <a:ea typeface="Arial" pitchFamily="34" charset="-122"/>
                <a:cs typeface="Arial" pitchFamily="34" charset="-120"/>
              </a:rPr>
              <a:t>NETFLIX CONTENT ANALYSIS</a:t>
            </a:r>
            <a:endParaRPr lang="en-US" sz="1200" dirty="0"/>
          </a:p>
        </p:txBody>
      </p:sp>
      <p:sp>
        <p:nvSpPr>
          <p:cNvPr id="3" name="Text 1"/>
          <p:cNvSpPr txBox="1"/>
          <p:nvPr/>
        </p:nvSpPr>
        <p:spPr>
          <a:xfrm>
            <a:off x="548640" y="777240"/>
            <a:ext cx="8046720" cy="109728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Netflix Content Analysis: Trends, Success Drivers &amp; Content Gaps</a:t>
            </a:r>
            <a:endParaRPr lang="en-US" sz="3200" dirty="0"/>
          </a:p>
        </p:txBody>
      </p:sp>
      <p:sp>
        <p:nvSpPr>
          <p:cNvPr id="4" name="Text 2"/>
          <p:cNvSpPr txBox="1"/>
          <p:nvPr/>
        </p:nvSpPr>
        <p:spPr>
          <a:xfrm>
            <a:off x="548640" y="2057400"/>
            <a:ext cx="8046720" cy="274320"/>
          </a:xfrm>
          <a:prstGeom prst="rect">
            <a:avLst/>
          </a:prstGeom>
          <a:noFill/>
          <a:ln/>
        </p:spPr>
        <p:txBody>
          <a:bodyPr wrap="square" lIns="0" tIns="0" rIns="0" bIns="0" rtlCol="0" anchor="ctr"/>
          <a:lstStyle/>
          <a:p>
            <a:pPr marL="0" indent="0">
              <a:buNone/>
            </a:pPr>
            <a:r>
              <a:rPr lang="en-US" sz="1200" b="1" kern="0" spc="300" dirty="0">
                <a:solidFill>
                  <a:srgbClr val="B3B3B3"/>
                </a:solidFill>
                <a:latin typeface="Arial" pitchFamily="34" charset="0"/>
                <a:ea typeface="Arial" pitchFamily="34" charset="-122"/>
                <a:cs typeface="Arial" pitchFamily="34" charset="-120"/>
              </a:rPr>
              <a:t>PROBLEM STATEMENT</a:t>
            </a:r>
            <a:endParaRPr lang="en-US" sz="1200" dirty="0"/>
          </a:p>
        </p:txBody>
      </p:sp>
      <p:sp>
        <p:nvSpPr>
          <p:cNvPr id="5" name="Text 3"/>
          <p:cNvSpPr txBox="1"/>
          <p:nvPr/>
        </p:nvSpPr>
        <p:spPr>
          <a:xfrm>
            <a:off x="548640" y="2377440"/>
            <a:ext cx="7863840" cy="1051560"/>
          </a:xfrm>
          <a:prstGeom prst="rect">
            <a:avLst/>
          </a:prstGeom>
          <a:noFill/>
          <a:ln/>
        </p:spPr>
        <p:txBody>
          <a:bodyPr wrap="square" lIns="0" tIns="0" rIns="0" bIns="0" rtlCol="0" anchor="t"/>
          <a:lstStyle/>
          <a:p>
            <a:pPr marL="0" indent="0">
              <a:buNone/>
            </a:pPr>
            <a:r>
              <a:rPr lang="en-US" sz="1400" dirty="0">
                <a:solidFill>
                  <a:srgbClr val="F2F2F2"/>
                </a:solidFill>
                <a:latin typeface="Calibri" pitchFamily="34" charset="0"/>
                <a:ea typeface="Calibri" pitchFamily="34" charset="-122"/>
                <a:cs typeface="Calibri" pitchFamily="34" charset="-120"/>
              </a:rPr>
              <a:t>Netflix has a huge global catalog, but it is not clear what actually makes a title successful or where the library falls short. This project uses Python-based statistical analysis and visualizations to study content trends, identify the factors behind successful shows and movies, and spot gaps in the content library.</a:t>
            </a:r>
            <a:endParaRPr lang="en-US" sz="1400" dirty="0"/>
          </a:p>
        </p:txBody>
      </p:sp>
      <p:sp>
        <p:nvSpPr>
          <p:cNvPr id="6" name="Text 4"/>
          <p:cNvSpPr txBox="1"/>
          <p:nvPr/>
        </p:nvSpPr>
        <p:spPr>
          <a:xfrm>
            <a:off x="548640" y="3611880"/>
            <a:ext cx="8046720" cy="274320"/>
          </a:xfrm>
          <a:prstGeom prst="rect">
            <a:avLst/>
          </a:prstGeom>
          <a:noFill/>
          <a:ln/>
        </p:spPr>
        <p:txBody>
          <a:bodyPr wrap="square" lIns="0" tIns="0" rIns="0" bIns="0" rtlCol="0" anchor="ctr"/>
          <a:lstStyle/>
          <a:p>
            <a:pPr marL="0" indent="0">
              <a:buNone/>
            </a:pPr>
            <a:r>
              <a:rPr lang="en-US" sz="1200" b="1" kern="0" spc="300" dirty="0">
                <a:solidFill>
                  <a:srgbClr val="B3B3B3"/>
                </a:solidFill>
                <a:latin typeface="Arial" pitchFamily="34" charset="0"/>
                <a:ea typeface="Arial" pitchFamily="34" charset="-122"/>
                <a:cs typeface="Arial" pitchFamily="34" charset="-120"/>
              </a:rPr>
              <a:t>OUR APPROACH</a:t>
            </a:r>
            <a:endParaRPr lang="en-US" sz="1200" dirty="0"/>
          </a:p>
        </p:txBody>
      </p:sp>
      <p:sp>
        <p:nvSpPr>
          <p:cNvPr id="7" name="Shape 5"/>
          <p:cNvSpPr/>
          <p:nvPr/>
        </p:nvSpPr>
        <p:spPr>
          <a:xfrm>
            <a:off x="548640" y="3977640"/>
            <a:ext cx="1783080" cy="640080"/>
          </a:xfrm>
          <a:prstGeom prst="roundRect">
            <a:avLst>
              <a:gd name="adj" fmla="val 14286"/>
            </a:avLst>
          </a:prstGeom>
          <a:solidFill>
            <a:srgbClr val="2B1416"/>
          </a:solidFill>
          <a:ln w="12700">
            <a:solidFill>
              <a:srgbClr val="E50914"/>
            </a:solidFill>
            <a:prstDash val="solid"/>
          </a:ln>
        </p:spPr>
      </p:sp>
      <p:sp>
        <p:nvSpPr>
          <p:cNvPr id="8" name="Text 6"/>
          <p:cNvSpPr txBox="1"/>
          <p:nvPr/>
        </p:nvSpPr>
        <p:spPr>
          <a:xfrm>
            <a:off x="548640" y="3977640"/>
            <a:ext cx="1783080" cy="640080"/>
          </a:xfrm>
          <a:prstGeom prst="rect">
            <a:avLst/>
          </a:prstGeom>
          <a:noFill/>
          <a:ln/>
        </p:spPr>
        <p:txBody>
          <a:bodyPr wrap="square" lIns="50800" tIns="50800" rIns="50800" bIns="508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cleaning</a:t>
            </a:r>
            <a:endParaRPr lang="en-US" sz="1300" dirty="0"/>
          </a:p>
        </p:txBody>
      </p:sp>
      <p:sp>
        <p:nvSpPr>
          <p:cNvPr id="9" name="Text 7"/>
          <p:cNvSpPr txBox="1"/>
          <p:nvPr/>
        </p:nvSpPr>
        <p:spPr>
          <a:xfrm>
            <a:off x="2331720" y="3977640"/>
            <a:ext cx="365760" cy="640080"/>
          </a:xfrm>
          <a:prstGeom prst="rect">
            <a:avLst/>
          </a:prstGeom>
          <a:noFill/>
          <a:ln/>
        </p:spPr>
        <p:txBody>
          <a:bodyPr wrap="square" lIns="0" tIns="0" rIns="0" bIns="0" rtlCol="0" anchor="ctr"/>
          <a:lstStyle/>
          <a:p>
            <a:pPr marL="0" indent="0" algn="ctr">
              <a:buNone/>
            </a:pPr>
            <a:r>
              <a:rPr lang="en-US" sz="1800" b="1" dirty="0">
                <a:solidFill>
                  <a:srgbClr val="F5333F"/>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2697480" y="3977640"/>
            <a:ext cx="1783080" cy="640080"/>
          </a:xfrm>
          <a:prstGeom prst="roundRect">
            <a:avLst>
              <a:gd name="adj" fmla="val 14286"/>
            </a:avLst>
          </a:prstGeom>
          <a:solidFill>
            <a:srgbClr val="2B1416"/>
          </a:solidFill>
          <a:ln w="12700">
            <a:solidFill>
              <a:srgbClr val="E50914"/>
            </a:solidFill>
            <a:prstDash val="solid"/>
          </a:ln>
        </p:spPr>
      </p:sp>
      <p:sp>
        <p:nvSpPr>
          <p:cNvPr id="11" name="Text 9"/>
          <p:cNvSpPr txBox="1"/>
          <p:nvPr/>
        </p:nvSpPr>
        <p:spPr>
          <a:xfrm>
            <a:off x="2697480" y="3977640"/>
            <a:ext cx="1783080" cy="640080"/>
          </a:xfrm>
          <a:prstGeom prst="rect">
            <a:avLst/>
          </a:prstGeom>
          <a:noFill/>
          <a:ln/>
        </p:spPr>
        <p:txBody>
          <a:bodyPr wrap="square" lIns="50800" tIns="50800" rIns="50800" bIns="508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Exploratory analysis</a:t>
            </a:r>
            <a:endParaRPr lang="en-US" sz="1300" dirty="0"/>
          </a:p>
        </p:txBody>
      </p:sp>
      <p:sp>
        <p:nvSpPr>
          <p:cNvPr id="12" name="Text 10"/>
          <p:cNvSpPr txBox="1"/>
          <p:nvPr/>
        </p:nvSpPr>
        <p:spPr>
          <a:xfrm>
            <a:off x="4480560" y="3977640"/>
            <a:ext cx="365760" cy="640080"/>
          </a:xfrm>
          <a:prstGeom prst="rect">
            <a:avLst/>
          </a:prstGeom>
          <a:noFill/>
          <a:ln/>
        </p:spPr>
        <p:txBody>
          <a:bodyPr wrap="square" lIns="0" tIns="0" rIns="0" bIns="0" rtlCol="0" anchor="ctr"/>
          <a:lstStyle/>
          <a:p>
            <a:pPr marL="0" indent="0" algn="ctr">
              <a:buNone/>
            </a:pPr>
            <a:r>
              <a:rPr lang="en-US" sz="1800" b="1" dirty="0">
                <a:solidFill>
                  <a:srgbClr val="F5333F"/>
                </a:solidFill>
                <a:latin typeface="Arial" pitchFamily="34" charset="0"/>
                <a:ea typeface="Arial" pitchFamily="34" charset="-122"/>
                <a:cs typeface="Arial" pitchFamily="34" charset="-120"/>
              </a:rPr>
              <a:t>→</a:t>
            </a:r>
            <a:endParaRPr lang="en-US" sz="1800" dirty="0"/>
          </a:p>
        </p:txBody>
      </p:sp>
      <p:sp>
        <p:nvSpPr>
          <p:cNvPr id="13" name="Shape 11"/>
          <p:cNvSpPr/>
          <p:nvPr/>
        </p:nvSpPr>
        <p:spPr>
          <a:xfrm>
            <a:off x="4846320" y="3977640"/>
            <a:ext cx="1783080" cy="640080"/>
          </a:xfrm>
          <a:prstGeom prst="roundRect">
            <a:avLst>
              <a:gd name="adj" fmla="val 14286"/>
            </a:avLst>
          </a:prstGeom>
          <a:solidFill>
            <a:srgbClr val="2B1416"/>
          </a:solidFill>
          <a:ln w="12700">
            <a:solidFill>
              <a:srgbClr val="E50914"/>
            </a:solidFill>
            <a:prstDash val="solid"/>
          </a:ln>
        </p:spPr>
      </p:sp>
      <p:sp>
        <p:nvSpPr>
          <p:cNvPr id="14" name="Text 12"/>
          <p:cNvSpPr txBox="1"/>
          <p:nvPr/>
        </p:nvSpPr>
        <p:spPr>
          <a:xfrm>
            <a:off x="4846320" y="3977640"/>
            <a:ext cx="1783080" cy="640080"/>
          </a:xfrm>
          <a:prstGeom prst="rect">
            <a:avLst/>
          </a:prstGeom>
          <a:noFill/>
          <a:ln/>
        </p:spPr>
        <p:txBody>
          <a:bodyPr wrap="square" lIns="50800" tIns="50800" rIns="50800" bIns="508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Statistical testing (Pearson)</a:t>
            </a:r>
            <a:endParaRPr lang="en-US" sz="1300" dirty="0"/>
          </a:p>
        </p:txBody>
      </p:sp>
      <p:sp>
        <p:nvSpPr>
          <p:cNvPr id="15" name="Text 13"/>
          <p:cNvSpPr txBox="1"/>
          <p:nvPr/>
        </p:nvSpPr>
        <p:spPr>
          <a:xfrm>
            <a:off x="6629400" y="3977640"/>
            <a:ext cx="365760" cy="640080"/>
          </a:xfrm>
          <a:prstGeom prst="rect">
            <a:avLst/>
          </a:prstGeom>
          <a:noFill/>
          <a:ln/>
        </p:spPr>
        <p:txBody>
          <a:bodyPr wrap="square" lIns="0" tIns="0" rIns="0" bIns="0" rtlCol="0" anchor="ctr"/>
          <a:lstStyle/>
          <a:p>
            <a:pPr marL="0" indent="0" algn="ctr">
              <a:buNone/>
            </a:pPr>
            <a:r>
              <a:rPr lang="en-US" sz="1800" b="1" dirty="0">
                <a:solidFill>
                  <a:srgbClr val="F5333F"/>
                </a:solidFill>
                <a:latin typeface="Arial" pitchFamily="34" charset="0"/>
                <a:ea typeface="Arial" pitchFamily="34" charset="-122"/>
                <a:cs typeface="Arial" pitchFamily="34" charset="-120"/>
              </a:rPr>
              <a:t>→</a:t>
            </a:r>
            <a:endParaRPr lang="en-US" sz="1800" dirty="0"/>
          </a:p>
        </p:txBody>
      </p:sp>
      <p:sp>
        <p:nvSpPr>
          <p:cNvPr id="16" name="Shape 14"/>
          <p:cNvSpPr/>
          <p:nvPr/>
        </p:nvSpPr>
        <p:spPr>
          <a:xfrm>
            <a:off x="6995160" y="3977640"/>
            <a:ext cx="1783080" cy="640080"/>
          </a:xfrm>
          <a:prstGeom prst="roundRect">
            <a:avLst>
              <a:gd name="adj" fmla="val 14286"/>
            </a:avLst>
          </a:prstGeom>
          <a:solidFill>
            <a:srgbClr val="2B1416"/>
          </a:solidFill>
          <a:ln w="12700">
            <a:solidFill>
              <a:srgbClr val="E50914"/>
            </a:solidFill>
            <a:prstDash val="solid"/>
          </a:ln>
        </p:spPr>
      </p:sp>
      <p:sp>
        <p:nvSpPr>
          <p:cNvPr id="17" name="Text 15"/>
          <p:cNvSpPr txBox="1"/>
          <p:nvPr/>
        </p:nvSpPr>
        <p:spPr>
          <a:xfrm>
            <a:off x="6995160" y="3977640"/>
            <a:ext cx="1783080" cy="640080"/>
          </a:xfrm>
          <a:prstGeom prst="rect">
            <a:avLst/>
          </a:prstGeom>
          <a:noFill/>
          <a:ln/>
        </p:spPr>
        <p:txBody>
          <a:bodyPr wrap="square" lIns="50800" tIns="50800" rIns="50800" bIns="5080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Opportunity modelling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Data Cleaning &amp; Preparation</a:t>
            </a:r>
          </a:p>
        </p:txBody>
      </p:sp>
      <p:sp>
        <p:nvSpPr>
          <p:cNvPr id="3" name="Flow 0"/>
          <p:cNvSpPr/>
          <p:nvPr/>
        </p:nvSpPr>
        <p:spPr>
          <a:xfrm>
            <a:off x="457200" y="1188720"/>
            <a:ext cx="1181100" cy="594360"/>
          </a:xfrm>
          <a:prstGeom prst="roundRect">
            <a:avLst>
              <a:gd name="adj" fmla="val 14286"/>
            </a:avLst>
          </a:prstGeom>
          <a:solidFill>
            <a:srgbClr val="2B1416"/>
          </a:solidFill>
          <a:ln w="12700">
            <a:solidFill>
              <a:srgbClr val="E50914"/>
            </a:solidFill>
            <a:prstDash val="solid"/>
          </a:ln>
        </p:spPr>
      </p:sp>
      <p:sp>
        <p:nvSpPr>
          <p:cNvPr id="4" name="Flow text 0"/>
          <p:cNvSpPr txBox="1"/>
          <p:nvPr/>
        </p:nvSpPr>
        <p:spPr>
          <a:xfrm>
            <a:off x="4572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Load titles.csv</a:t>
            </a:r>
          </a:p>
        </p:txBody>
      </p:sp>
      <p:sp>
        <p:nvSpPr>
          <p:cNvPr id="5" name="Arrow 0"/>
          <p:cNvSpPr txBox="1"/>
          <p:nvPr/>
        </p:nvSpPr>
        <p:spPr>
          <a:xfrm>
            <a:off x="1638300" y="1188720"/>
            <a:ext cx="228600" cy="594360"/>
          </a:xfrm>
          <a:prstGeom prst="rect">
            <a:avLst/>
          </a:prstGeom>
          <a:noFill/>
          <a:ln/>
        </p:spPr>
        <p:txBody>
          <a:bodyPr wrap="square" lIns="0" tIns="0" rIns="0" bIns="0" rtlCol="0" anchor="ctr"/>
          <a:lstStyle/>
          <a:p>
            <a:pPr marL="0" indent="0" algn="ctr">
              <a:buNone/>
            </a:pPr>
            <a:r>
              <a:rPr lang="en-US" sz="1600" b="1" dirty="0">
                <a:solidFill>
                  <a:srgbClr val="F5333F"/>
                </a:solidFill>
                <a:latin typeface="Arial" pitchFamily="34" charset="0"/>
                <a:ea typeface="Arial" pitchFamily="34" charset="-122"/>
                <a:cs typeface="Arial" pitchFamily="34" charset="-120"/>
              </a:rPr>
              <a:t>→</a:t>
            </a:r>
          </a:p>
        </p:txBody>
      </p:sp>
      <p:sp>
        <p:nvSpPr>
          <p:cNvPr id="6" name="Flow 1"/>
          <p:cNvSpPr/>
          <p:nvPr/>
        </p:nvSpPr>
        <p:spPr>
          <a:xfrm>
            <a:off x="1866900" y="1188720"/>
            <a:ext cx="1181100" cy="594360"/>
          </a:xfrm>
          <a:prstGeom prst="roundRect">
            <a:avLst>
              <a:gd name="adj" fmla="val 14286"/>
            </a:avLst>
          </a:prstGeom>
          <a:solidFill>
            <a:srgbClr val="2B1416"/>
          </a:solidFill>
          <a:ln w="12700">
            <a:solidFill>
              <a:srgbClr val="E50914"/>
            </a:solidFill>
            <a:prstDash val="solid"/>
          </a:ln>
        </p:spPr>
      </p:sp>
      <p:sp>
        <p:nvSpPr>
          <p:cNvPr id="7" name="Flow text 1"/>
          <p:cNvSpPr txBox="1"/>
          <p:nvPr/>
        </p:nvSpPr>
        <p:spPr>
          <a:xfrm>
            <a:off x="18669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Drop missing scores</a:t>
            </a:r>
          </a:p>
        </p:txBody>
      </p:sp>
      <p:sp>
        <p:nvSpPr>
          <p:cNvPr id="8" name="Arrow 1"/>
          <p:cNvSpPr txBox="1"/>
          <p:nvPr/>
        </p:nvSpPr>
        <p:spPr>
          <a:xfrm>
            <a:off x="3048000" y="1188720"/>
            <a:ext cx="228600" cy="594360"/>
          </a:xfrm>
          <a:prstGeom prst="rect">
            <a:avLst/>
          </a:prstGeom>
          <a:noFill/>
          <a:ln/>
        </p:spPr>
        <p:txBody>
          <a:bodyPr wrap="square" lIns="0" tIns="0" rIns="0" bIns="0" rtlCol="0" anchor="ctr"/>
          <a:lstStyle/>
          <a:p>
            <a:pPr marL="0" indent="0" algn="ctr">
              <a:buNone/>
            </a:pPr>
            <a:r>
              <a:rPr lang="en-US" sz="1600" b="1" dirty="0">
                <a:solidFill>
                  <a:srgbClr val="F5333F"/>
                </a:solidFill>
                <a:latin typeface="Arial" pitchFamily="34" charset="0"/>
                <a:ea typeface="Arial" pitchFamily="34" charset="-122"/>
                <a:cs typeface="Arial" pitchFamily="34" charset="-120"/>
              </a:rPr>
              <a:t>→</a:t>
            </a:r>
          </a:p>
        </p:txBody>
      </p:sp>
      <p:sp>
        <p:nvSpPr>
          <p:cNvPr id="9" name="Flow 2"/>
          <p:cNvSpPr/>
          <p:nvPr/>
        </p:nvSpPr>
        <p:spPr>
          <a:xfrm>
            <a:off x="3276600" y="1188720"/>
            <a:ext cx="1181100" cy="594360"/>
          </a:xfrm>
          <a:prstGeom prst="roundRect">
            <a:avLst>
              <a:gd name="adj" fmla="val 14286"/>
            </a:avLst>
          </a:prstGeom>
          <a:solidFill>
            <a:srgbClr val="2B1416"/>
          </a:solidFill>
          <a:ln w="12700">
            <a:solidFill>
              <a:srgbClr val="E50914"/>
            </a:solidFill>
            <a:prstDash val="solid"/>
          </a:ln>
        </p:spPr>
      </p:sp>
      <p:sp>
        <p:nvSpPr>
          <p:cNvPr id="10" name="Flow text 2"/>
          <p:cNvSpPr txBox="1"/>
          <p:nvPr/>
        </p:nvSpPr>
        <p:spPr>
          <a:xfrm>
            <a:off x="32766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Fix list columns</a:t>
            </a:r>
          </a:p>
        </p:txBody>
      </p:sp>
      <p:sp>
        <p:nvSpPr>
          <p:cNvPr id="11" name="Arrow 2"/>
          <p:cNvSpPr txBox="1"/>
          <p:nvPr/>
        </p:nvSpPr>
        <p:spPr>
          <a:xfrm>
            <a:off x="4457700" y="1188720"/>
            <a:ext cx="228600" cy="594360"/>
          </a:xfrm>
          <a:prstGeom prst="rect">
            <a:avLst/>
          </a:prstGeom>
          <a:noFill/>
          <a:ln/>
        </p:spPr>
        <p:txBody>
          <a:bodyPr wrap="square" lIns="0" tIns="0" rIns="0" bIns="0" rtlCol="0" anchor="ctr"/>
          <a:lstStyle/>
          <a:p>
            <a:pPr marL="0" indent="0" algn="ctr">
              <a:buNone/>
            </a:pPr>
            <a:r>
              <a:rPr lang="en-US" sz="1600" b="1" dirty="0">
                <a:solidFill>
                  <a:srgbClr val="F5333F"/>
                </a:solidFill>
                <a:latin typeface="Arial" pitchFamily="34" charset="0"/>
                <a:ea typeface="Arial" pitchFamily="34" charset="-122"/>
                <a:cs typeface="Arial" pitchFamily="34" charset="-120"/>
              </a:rPr>
              <a:t>→</a:t>
            </a:r>
          </a:p>
        </p:txBody>
      </p:sp>
      <p:sp>
        <p:nvSpPr>
          <p:cNvPr id="12" name="Flow 3"/>
          <p:cNvSpPr/>
          <p:nvPr/>
        </p:nvSpPr>
        <p:spPr>
          <a:xfrm>
            <a:off x="4686300" y="1188720"/>
            <a:ext cx="1181100" cy="594360"/>
          </a:xfrm>
          <a:prstGeom prst="roundRect">
            <a:avLst>
              <a:gd name="adj" fmla="val 14286"/>
            </a:avLst>
          </a:prstGeom>
          <a:solidFill>
            <a:srgbClr val="2B1416"/>
          </a:solidFill>
          <a:ln w="12700">
            <a:solidFill>
              <a:srgbClr val="E50914"/>
            </a:solidFill>
            <a:prstDash val="solid"/>
          </a:ln>
        </p:spPr>
      </p:sp>
      <p:sp>
        <p:nvSpPr>
          <p:cNvPr id="13" name="Flow text 3"/>
          <p:cNvSpPr txBox="1"/>
          <p:nvPr/>
        </p:nvSpPr>
        <p:spPr>
          <a:xfrm>
            <a:off x="46863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Fill gaps</a:t>
            </a:r>
          </a:p>
        </p:txBody>
      </p:sp>
      <p:sp>
        <p:nvSpPr>
          <p:cNvPr id="14" name="Arrow 3"/>
          <p:cNvSpPr txBox="1"/>
          <p:nvPr/>
        </p:nvSpPr>
        <p:spPr>
          <a:xfrm>
            <a:off x="5867400" y="1188720"/>
            <a:ext cx="228600" cy="594360"/>
          </a:xfrm>
          <a:prstGeom prst="rect">
            <a:avLst/>
          </a:prstGeom>
          <a:noFill/>
          <a:ln/>
        </p:spPr>
        <p:txBody>
          <a:bodyPr wrap="square" lIns="0" tIns="0" rIns="0" bIns="0" rtlCol="0" anchor="ctr"/>
          <a:lstStyle/>
          <a:p>
            <a:pPr marL="0" indent="0" algn="ctr">
              <a:buNone/>
            </a:pPr>
            <a:r>
              <a:rPr lang="en-US" sz="1600" b="1" dirty="0">
                <a:solidFill>
                  <a:srgbClr val="F5333F"/>
                </a:solidFill>
                <a:latin typeface="Arial" pitchFamily="34" charset="0"/>
                <a:ea typeface="Arial" pitchFamily="34" charset="-122"/>
                <a:cs typeface="Arial" pitchFamily="34" charset="-120"/>
              </a:rPr>
              <a:t>→</a:t>
            </a:r>
          </a:p>
        </p:txBody>
      </p:sp>
      <p:sp>
        <p:nvSpPr>
          <p:cNvPr id="15" name="Flow 4"/>
          <p:cNvSpPr/>
          <p:nvPr/>
        </p:nvSpPr>
        <p:spPr>
          <a:xfrm>
            <a:off x="6096000" y="1188720"/>
            <a:ext cx="1181100" cy="594360"/>
          </a:xfrm>
          <a:prstGeom prst="roundRect">
            <a:avLst>
              <a:gd name="adj" fmla="val 14286"/>
            </a:avLst>
          </a:prstGeom>
          <a:solidFill>
            <a:srgbClr val="2B1416"/>
          </a:solidFill>
          <a:ln w="12700">
            <a:solidFill>
              <a:srgbClr val="E50914"/>
            </a:solidFill>
            <a:prstDash val="solid"/>
          </a:ln>
        </p:spPr>
      </p:sp>
      <p:sp>
        <p:nvSpPr>
          <p:cNvPr id="16" name="Flow text 4"/>
          <p:cNvSpPr txBox="1"/>
          <p:nvPr/>
        </p:nvSpPr>
        <p:spPr>
          <a:xfrm>
            <a:off x="60960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Load credits.csv</a:t>
            </a:r>
          </a:p>
        </p:txBody>
      </p:sp>
      <p:sp>
        <p:nvSpPr>
          <p:cNvPr id="17" name="Arrow 4"/>
          <p:cNvSpPr txBox="1"/>
          <p:nvPr/>
        </p:nvSpPr>
        <p:spPr>
          <a:xfrm>
            <a:off x="7277100" y="1188720"/>
            <a:ext cx="228600" cy="594360"/>
          </a:xfrm>
          <a:prstGeom prst="rect">
            <a:avLst/>
          </a:prstGeom>
          <a:noFill/>
          <a:ln/>
        </p:spPr>
        <p:txBody>
          <a:bodyPr wrap="square" lIns="0" tIns="0" rIns="0" bIns="0" rtlCol="0" anchor="ctr"/>
          <a:lstStyle/>
          <a:p>
            <a:pPr marL="0" indent="0" algn="ctr">
              <a:buNone/>
            </a:pPr>
            <a:r>
              <a:rPr lang="en-US" sz="1600" b="1" dirty="0">
                <a:solidFill>
                  <a:srgbClr val="F5333F"/>
                </a:solidFill>
                <a:latin typeface="Arial" pitchFamily="34" charset="0"/>
                <a:ea typeface="Arial" pitchFamily="34" charset="-122"/>
                <a:cs typeface="Arial" pitchFamily="34" charset="-120"/>
              </a:rPr>
              <a:t>→</a:t>
            </a:r>
          </a:p>
        </p:txBody>
      </p:sp>
      <p:sp>
        <p:nvSpPr>
          <p:cNvPr id="18" name="Flow 5"/>
          <p:cNvSpPr/>
          <p:nvPr/>
        </p:nvSpPr>
        <p:spPr>
          <a:xfrm>
            <a:off x="7505700" y="1188720"/>
            <a:ext cx="1181100" cy="594360"/>
          </a:xfrm>
          <a:prstGeom prst="roundRect">
            <a:avLst>
              <a:gd name="adj" fmla="val 14286"/>
            </a:avLst>
          </a:prstGeom>
          <a:solidFill>
            <a:srgbClr val="E50914"/>
          </a:solidFill>
          <a:ln w="12700">
            <a:solidFill>
              <a:srgbClr val="E50914"/>
            </a:solidFill>
            <a:prstDash val="solid"/>
          </a:ln>
        </p:spPr>
      </p:sp>
      <p:sp>
        <p:nvSpPr>
          <p:cNvPr id="19" name="Flow text 5"/>
          <p:cNvSpPr txBox="1"/>
          <p:nvPr/>
        </p:nvSpPr>
        <p:spPr>
          <a:xfrm>
            <a:off x="7505700" y="1188720"/>
            <a:ext cx="1181100" cy="594360"/>
          </a:xfrm>
          <a:prstGeom prst="rect">
            <a:avLst/>
          </a:prstGeom>
          <a:noFill/>
          <a:ln/>
        </p:spPr>
        <p:txBody>
          <a:bodyPr wrap="square" lIns="45720" tIns="45720" rIns="45720" bIns="4572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Ready</a:t>
            </a:r>
          </a:p>
        </p:txBody>
      </p:sp>
      <p:sp>
        <p:nvSpPr>
          <p:cNvPr id="20" name="Card 0"/>
          <p:cNvSpPr/>
          <p:nvPr/>
        </p:nvSpPr>
        <p:spPr>
          <a:xfrm>
            <a:off x="457200" y="2011680"/>
            <a:ext cx="2621280" cy="2011680"/>
          </a:xfrm>
          <a:prstGeom prst="roundRect">
            <a:avLst>
              <a:gd name="adj" fmla="val 4000"/>
            </a:avLst>
          </a:prstGeom>
          <a:solidFill>
            <a:srgbClr val="2B1416"/>
          </a:solidFill>
          <a:ln w="12700">
            <a:solidFill>
              <a:srgbClr val="2B1416"/>
            </a:solidFill>
            <a:prstDash val="solid"/>
          </a:ln>
        </p:spPr>
      </p:sp>
      <p:sp>
        <p:nvSpPr>
          <p:cNvPr id="21" name="Card text 0"/>
          <p:cNvSpPr txBox="1"/>
          <p:nvPr/>
        </p:nvSpPr>
        <p:spPr>
          <a:xfrm>
            <a:off x="594360" y="2148840"/>
            <a:ext cx="2346960" cy="1737360"/>
          </a:xfrm>
          <a:prstGeom prst="rect">
            <a:avLst/>
          </a:prstGeom>
          <a:noFill/>
          <a:ln/>
        </p:spPr>
        <p:txBody>
          <a:bodyPr wrap="square" lIns="0" tIns="0" rIns="0" bIns="0" rtlCol="0" anchor="t"/>
          <a:lstStyle/>
          <a:p>
            <a:pPr marL="0" indent="0">
              <a:spcAft>
                <a:spcPts val="800"/>
              </a:spcAft>
              <a:buNone/>
            </a:pPr>
            <a:r>
              <a:rPr lang="en-US" sz="1200" b="1" spc="200" dirty="0">
                <a:solidFill>
                  <a:srgbClr val="F5333F"/>
                </a:solidFill>
                <a:latin typeface="Arial" pitchFamily="34" charset="0"/>
                <a:ea typeface="Arial" pitchFamily="34" charset="-122"/>
                <a:cs typeface="Arial" pitchFamily="34" charset="-120"/>
              </a:rPr>
              <a:t>LOADED</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titles.csv</a:t>
            </a:r>
            <a:r>
              <a:rPr lang="en-US" sz="1300" dirty="0">
                <a:solidFill>
                  <a:srgbClr val="F2F2F2"/>
                </a:solidFill>
                <a:latin typeface="Calibri" pitchFamily="34" charset="0"/>
                <a:ea typeface="Calibri" pitchFamily="34" charset="-122"/>
                <a:cs typeface="Calibri" pitchFamily="34" charset="-120"/>
              </a:rPr>
              <a:t> (titles)</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credits.csv</a:t>
            </a:r>
            <a:r>
              <a:rPr lang="en-US" sz="1300" dirty="0">
                <a:solidFill>
                  <a:srgbClr val="F2F2F2"/>
                </a:solidFill>
                <a:latin typeface="Calibri" pitchFamily="34" charset="0"/>
                <a:ea typeface="Calibri" pitchFamily="34" charset="-122"/>
                <a:cs typeface="Calibri" pitchFamily="34" charset="-120"/>
              </a:rPr>
              <a:t> (cast &amp; crew)</a:t>
            </a:r>
          </a:p>
        </p:txBody>
      </p:sp>
      <p:sp>
        <p:nvSpPr>
          <p:cNvPr id="22" name="Card 1"/>
          <p:cNvSpPr/>
          <p:nvPr/>
        </p:nvSpPr>
        <p:spPr>
          <a:xfrm>
            <a:off x="3261360" y="2011680"/>
            <a:ext cx="2621280" cy="2011680"/>
          </a:xfrm>
          <a:prstGeom prst="roundRect">
            <a:avLst>
              <a:gd name="adj" fmla="val 4000"/>
            </a:avLst>
          </a:prstGeom>
          <a:solidFill>
            <a:srgbClr val="2B1416"/>
          </a:solidFill>
          <a:ln w="12700">
            <a:solidFill>
              <a:srgbClr val="2B1416"/>
            </a:solidFill>
            <a:prstDash val="solid"/>
          </a:ln>
        </p:spPr>
      </p:sp>
      <p:sp>
        <p:nvSpPr>
          <p:cNvPr id="23" name="Card text 1"/>
          <p:cNvSpPr txBox="1"/>
          <p:nvPr/>
        </p:nvSpPr>
        <p:spPr>
          <a:xfrm>
            <a:off x="3398520" y="2148840"/>
            <a:ext cx="2346960" cy="1737360"/>
          </a:xfrm>
          <a:prstGeom prst="rect">
            <a:avLst/>
          </a:prstGeom>
          <a:noFill/>
          <a:ln/>
        </p:spPr>
        <p:txBody>
          <a:bodyPr wrap="square" lIns="0" tIns="0" rIns="0" bIns="0" rtlCol="0" anchor="t"/>
          <a:lstStyle/>
          <a:p>
            <a:pPr marL="0" indent="0">
              <a:spcAft>
                <a:spcPts val="800"/>
              </a:spcAft>
              <a:buNone/>
            </a:pPr>
            <a:r>
              <a:rPr lang="en-US" sz="1200" b="1" spc="200" dirty="0">
                <a:solidFill>
                  <a:srgbClr val="F5333F"/>
                </a:solidFill>
                <a:latin typeface="Arial" pitchFamily="34" charset="0"/>
                <a:ea typeface="Arial" pitchFamily="34" charset="-122"/>
                <a:cs typeface="Arial" pitchFamily="34" charset="-120"/>
              </a:rPr>
              <a:t>CLEANED</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Dropped</a:t>
            </a:r>
            <a:r>
              <a:rPr lang="en-US" sz="1300" dirty="0">
                <a:solidFill>
                  <a:srgbClr val="F2F2F2"/>
                </a:solidFill>
                <a:latin typeface="Calibri" pitchFamily="34" charset="0"/>
                <a:ea typeface="Calibri" pitchFamily="34" charset="-122"/>
                <a:cs typeface="Calibri" pitchFamily="34" charset="-120"/>
              </a:rPr>
              <a:t> rows with no IMDb score</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Fixed list columns: </a:t>
            </a:r>
            <a:r>
              <a:rPr lang="en-US" sz="1300" dirty="0">
                <a:solidFill>
                  <a:srgbClr val="F2F2F2"/>
                </a:solidFill>
                <a:latin typeface="Calibri" pitchFamily="34" charset="0"/>
                <a:ea typeface="Calibri" pitchFamily="34" charset="-122"/>
                <a:cs typeface="Calibri" pitchFamily="34" charset="-120"/>
              </a:rPr>
              <a:t>genres, production_countries → real Python lists</a:t>
            </a:r>
          </a:p>
        </p:txBody>
      </p:sp>
      <p:sp>
        <p:nvSpPr>
          <p:cNvPr id="24" name="Card 2"/>
          <p:cNvSpPr/>
          <p:nvPr/>
        </p:nvSpPr>
        <p:spPr>
          <a:xfrm>
            <a:off x="6065520" y="2011680"/>
            <a:ext cx="2621280" cy="2011680"/>
          </a:xfrm>
          <a:prstGeom prst="roundRect">
            <a:avLst>
              <a:gd name="adj" fmla="val 4000"/>
            </a:avLst>
          </a:prstGeom>
          <a:solidFill>
            <a:srgbClr val="2B1416"/>
          </a:solidFill>
          <a:ln w="12700">
            <a:solidFill>
              <a:srgbClr val="2B1416"/>
            </a:solidFill>
            <a:prstDash val="solid"/>
          </a:ln>
        </p:spPr>
      </p:sp>
      <p:sp>
        <p:nvSpPr>
          <p:cNvPr id="25" name="Card text 2"/>
          <p:cNvSpPr txBox="1"/>
          <p:nvPr/>
        </p:nvSpPr>
        <p:spPr>
          <a:xfrm>
            <a:off x="6202680" y="2148840"/>
            <a:ext cx="2346960" cy="1737360"/>
          </a:xfrm>
          <a:prstGeom prst="rect">
            <a:avLst/>
          </a:prstGeom>
          <a:noFill/>
          <a:ln/>
        </p:spPr>
        <p:txBody>
          <a:bodyPr wrap="square" lIns="0" tIns="0" rIns="0" bIns="0" rtlCol="0" anchor="t"/>
          <a:lstStyle/>
          <a:p>
            <a:pPr marL="0" indent="0">
              <a:spcAft>
                <a:spcPts val="800"/>
              </a:spcAft>
              <a:buNone/>
            </a:pPr>
            <a:r>
              <a:rPr lang="en-US" sz="1200" b="1" spc="200" dirty="0">
                <a:solidFill>
                  <a:srgbClr val="F5333F"/>
                </a:solidFill>
                <a:latin typeface="Arial" pitchFamily="34" charset="0"/>
                <a:ea typeface="Arial" pitchFamily="34" charset="-122"/>
                <a:cs typeface="Arial" pitchFamily="34" charset="-120"/>
              </a:rPr>
              <a:t>FILLED</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Seasons</a:t>
            </a:r>
            <a:r>
              <a:rPr lang="en-US" sz="1300" dirty="0">
                <a:solidFill>
                  <a:srgbClr val="F2F2F2"/>
                </a:solidFill>
                <a:latin typeface="Calibri" pitchFamily="34" charset="0"/>
                <a:ea typeface="Calibri" pitchFamily="34" charset="-122"/>
                <a:cs typeface="Calibri" pitchFamily="34" charset="-120"/>
              </a:rPr>
              <a:t> → 0 (movies)</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Age certification</a:t>
            </a:r>
            <a:r>
              <a:rPr lang="en-US" sz="1300" dirty="0">
                <a:solidFill>
                  <a:srgbClr val="F2F2F2"/>
                </a:solidFill>
                <a:latin typeface="Calibri" pitchFamily="34" charset="0"/>
                <a:ea typeface="Calibri" pitchFamily="34" charset="-122"/>
                <a:cs typeface="Calibri" pitchFamily="34" charset="-120"/>
              </a:rPr>
              <a:t> → "Unrated"</a:t>
            </a:r>
          </a:p>
          <a:p>
            <a:pPr marL="0" indent="0">
              <a:spcAft>
                <a:spcPts val="700"/>
              </a:spcAft>
              <a:buNone/>
            </a:pPr>
            <a:r>
              <a:rPr lang="en-US" sz="1300" b="1" dirty="0">
                <a:solidFill>
                  <a:srgbClr val="F5333F"/>
                </a:solidFill>
                <a:latin typeface="Calibri" pitchFamily="34" charset="0"/>
                <a:ea typeface="Calibri" pitchFamily="34" charset="-122"/>
                <a:cs typeface="Calibri" pitchFamily="34" charset="-120"/>
              </a:rPr>
              <a:t>Runtime</a:t>
            </a:r>
            <a:r>
              <a:rPr lang="en-US" sz="1300" dirty="0">
                <a:solidFill>
                  <a:srgbClr val="F2F2F2"/>
                </a:solidFill>
                <a:latin typeface="Calibri" pitchFamily="34" charset="0"/>
                <a:ea typeface="Calibri" pitchFamily="34" charset="-122"/>
                <a:cs typeface="Calibri" pitchFamily="34" charset="-120"/>
              </a:rPr>
              <a:t> → median</a:t>
            </a:r>
          </a:p>
        </p:txBody>
      </p:sp>
      <p:sp>
        <p:nvSpPr>
          <p:cNvPr id="26" name="Takeaway bar"/>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27" name="Takeaway text"/>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spc="200" dirty="0">
                <a:solidFill>
                  <a:srgbClr val="F5333F"/>
                </a:solidFill>
                <a:latin typeface="Arial" pitchFamily="34" charset="0"/>
                <a:ea typeface="Arial" pitchFamily="34" charset="-122"/>
                <a:cs typeface="Arial" pitchFamily="34" charset="-120"/>
              </a:rPr>
              <a:t>TAKEAWAY</a:t>
            </a:r>
            <a:r>
              <a:rPr lang="en-US" sz="1200" dirty="0">
                <a:solidFill>
                  <a:srgbClr val="FFFFFF"/>
                </a:solidFill>
                <a:latin typeface="Calibri" pitchFamily="34" charset="0"/>
                <a:ea typeface="Calibri" pitchFamily="34" charset="-122"/>
                <a:cs typeface="Calibri" pitchFamily="34" charset="-120"/>
              </a:rPr>
              <a:t>   Clean dataset, ready for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Movies vs TV Shows: Production 1945–2022</a:t>
            </a:r>
            <a:endParaRPr lang="en-US" sz="2600" dirty="0"/>
          </a:p>
        </p:txBody>
      </p:sp>
      <p:sp>
        <p:nvSpPr>
          <p:cNvPr id="3" name="Shape 1"/>
          <p:cNvSpPr/>
          <p:nvPr/>
        </p:nvSpPr>
        <p:spPr>
          <a:xfrm>
            <a:off x="457200" y="1618060"/>
            <a:ext cx="5120640" cy="2616040"/>
          </a:xfrm>
          <a:prstGeom prst="roundRect">
            <a:avLst>
              <a:gd name="adj" fmla="val 2796"/>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prod.png"/>
          <p:cNvPicPr>
            <a:picLocks noChangeAspect="1"/>
          </p:cNvPicPr>
          <p:nvPr/>
        </p:nvPicPr>
        <p:blipFill>
          <a:blip r:embed="rId4"/>
          <a:stretch>
            <a:fillRect/>
          </a:stretch>
        </p:blipFill>
        <p:spPr>
          <a:xfrm>
            <a:off x="548640" y="1709500"/>
            <a:ext cx="4937760" cy="2433160"/>
          </a:xfrm>
          <a:prstGeom prst="rect">
            <a:avLst/>
          </a:prstGeom>
        </p:spPr>
      </p:pic>
      <p:sp>
        <p:nvSpPr>
          <p:cNvPr id="5" name="Text 2"/>
          <p:cNvSpPr txBox="1"/>
          <p:nvPr/>
        </p:nvSpPr>
        <p:spPr>
          <a:xfrm>
            <a:off x="5897880" y="1188720"/>
            <a:ext cx="2788920" cy="347472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Very low and stable for both until </a:t>
            </a:r>
            <a:r>
              <a:rPr lang="en-US" sz="1400" b="1" dirty="0">
                <a:solidFill>
                  <a:srgbClr val="F5333F"/>
                </a:solidFill>
                <a:latin typeface="Calibri" pitchFamily="34" charset="0"/>
                <a:ea typeface="Calibri" pitchFamily="34" charset="-122"/>
                <a:cs typeface="Calibri" pitchFamily="34" charset="-120"/>
              </a:rPr>
              <a:t>2000</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After 2000, growth begins with </a:t>
            </a:r>
            <a:r>
              <a:rPr lang="en-US" sz="1400" b="1" dirty="0">
                <a:solidFill>
                  <a:srgbClr val="F5333F"/>
                </a:solidFill>
                <a:latin typeface="Calibri" pitchFamily="34" charset="0"/>
                <a:ea typeface="Calibri" pitchFamily="34" charset="-122"/>
                <a:cs typeface="Calibri" pitchFamily="34" charset="-120"/>
              </a:rPr>
              <a:t>Movies always above TV Shows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Huge boom after </a:t>
            </a:r>
            <a:r>
              <a:rPr lang="en-US" sz="1400" b="1" dirty="0">
                <a:solidFill>
                  <a:srgbClr val="F5333F"/>
                </a:solidFill>
                <a:latin typeface="Calibri" pitchFamily="34" charset="0"/>
                <a:ea typeface="Calibri" pitchFamily="34" charset="-122"/>
                <a:cs typeface="Calibri" pitchFamily="34" charset="-120"/>
              </a:rPr>
              <a:t>2015</a:t>
            </a:r>
            <a:r>
              <a:rPr lang="en-US" sz="1400" dirty="0">
                <a:solidFill>
                  <a:srgbClr val="F2F2F2"/>
                </a:solidFill>
                <a:latin typeface="Calibri" pitchFamily="34" charset="0"/>
                <a:ea typeface="Calibri" pitchFamily="34" charset="-122"/>
                <a:cs typeface="Calibri" pitchFamily="34" charset="-120"/>
              </a:rPr>
              <a:t>, peaking around </a:t>
            </a:r>
            <a:r>
              <a:rPr lang="en-US" sz="1400" b="1" dirty="0">
                <a:solidFill>
                  <a:srgbClr val="F5333F"/>
                </a:solidFill>
                <a:latin typeface="Calibri" pitchFamily="34" charset="0"/>
                <a:ea typeface="Calibri" pitchFamily="34" charset="-122"/>
                <a:cs typeface="Calibri" pitchFamily="34" charset="-120"/>
              </a:rPr>
              <a:t>2018–19</a:t>
            </a:r>
            <a:r>
              <a:rPr lang="en-US" sz="1400" dirty="0">
                <a:solidFill>
                  <a:srgbClr val="F2F2F2"/>
                </a:solidFill>
                <a:latin typeface="Calibri" pitchFamily="34" charset="0"/>
                <a:ea typeface="Calibri" pitchFamily="34" charset="-122"/>
                <a:cs typeface="Calibri" pitchFamily="34" charset="-120"/>
              </a:rPr>
              <a:t> with </a:t>
            </a:r>
            <a:r>
              <a:rPr lang="en-US" sz="1400" b="1" dirty="0">
                <a:solidFill>
                  <a:srgbClr val="F5333F"/>
                </a:solidFill>
                <a:latin typeface="Calibri" pitchFamily="34" charset="0"/>
                <a:ea typeface="Calibri" pitchFamily="34" charset="-122"/>
                <a:cs typeface="Calibri" pitchFamily="34" charset="-120"/>
              </a:rPr>
              <a:t>500+ Movies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Sharp drop in </a:t>
            </a:r>
            <a:r>
              <a:rPr lang="en-US" sz="1400" b="1" dirty="0">
                <a:solidFill>
                  <a:srgbClr val="F5333F"/>
                </a:solidFill>
                <a:latin typeface="Calibri" pitchFamily="34" charset="0"/>
                <a:ea typeface="Calibri" pitchFamily="34" charset="-122"/>
                <a:cs typeface="Calibri" pitchFamily="34" charset="-120"/>
              </a:rPr>
              <a:t>2020–22</a:t>
            </a:r>
            <a:r>
              <a:rPr lang="en-US" sz="1400" dirty="0">
                <a:solidFill>
                  <a:srgbClr val="F2F2F2"/>
                </a:solidFill>
                <a:latin typeface="Calibri" pitchFamily="34" charset="0"/>
                <a:ea typeface="Calibri" pitchFamily="34" charset="-122"/>
                <a:cs typeface="Calibri" pitchFamily="34" charset="-120"/>
              </a:rPr>
              <a:t>, likely COVID-19 impact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Runtime: TV Shows vs Movies</a:t>
            </a:r>
            <a:endParaRPr lang="en-US" sz="2600" dirty="0"/>
          </a:p>
        </p:txBody>
      </p:sp>
      <p:sp>
        <p:nvSpPr>
          <p:cNvPr id="3" name="Shape 1"/>
          <p:cNvSpPr/>
          <p:nvPr/>
        </p:nvSpPr>
        <p:spPr>
          <a:xfrm>
            <a:off x="457200" y="1234386"/>
            <a:ext cx="5120640" cy="3383388"/>
          </a:xfrm>
          <a:prstGeom prst="roundRect">
            <a:avLst>
              <a:gd name="adj" fmla="val 2162"/>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box.png"/>
          <p:cNvPicPr>
            <a:picLocks noChangeAspect="1"/>
          </p:cNvPicPr>
          <p:nvPr/>
        </p:nvPicPr>
        <p:blipFill>
          <a:blip r:embed="rId4"/>
          <a:stretch>
            <a:fillRect/>
          </a:stretch>
        </p:blipFill>
        <p:spPr>
          <a:xfrm>
            <a:off x="548640" y="1325826"/>
            <a:ext cx="4937760" cy="3200508"/>
          </a:xfrm>
          <a:prstGeom prst="rect">
            <a:avLst/>
          </a:prstGeom>
        </p:spPr>
      </p:pic>
      <p:sp>
        <p:nvSpPr>
          <p:cNvPr id="5" name="Text 2"/>
          <p:cNvSpPr txBox="1"/>
          <p:nvPr/>
        </p:nvSpPr>
        <p:spPr>
          <a:xfrm>
            <a:off x="5897880" y="1188720"/>
            <a:ext cx="2788920" cy="347472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TV Shows</a:t>
            </a:r>
            <a:r>
              <a:rPr lang="en-US" sz="1400" dirty="0">
                <a:solidFill>
                  <a:srgbClr val="F2F2F2"/>
                </a:solidFill>
                <a:latin typeface="Calibri" pitchFamily="34" charset="0"/>
                <a:ea typeface="Calibri" pitchFamily="34" charset="-122"/>
                <a:cs typeface="Calibri" pitchFamily="34" charset="-120"/>
              </a:rPr>
              <a:t> are shorter: average about </a:t>
            </a:r>
            <a:r>
              <a:rPr lang="en-US" sz="1400" b="1" dirty="0">
                <a:solidFill>
                  <a:srgbClr val="F5333F"/>
                </a:solidFill>
                <a:latin typeface="Calibri" pitchFamily="34" charset="0"/>
                <a:ea typeface="Calibri" pitchFamily="34" charset="-122"/>
                <a:cs typeface="Calibri" pitchFamily="34" charset="-120"/>
              </a:rPr>
              <a:t>40 min</a:t>
            </a:r>
            <a:r>
              <a:rPr lang="en-US" sz="1400" dirty="0">
                <a:solidFill>
                  <a:srgbClr val="F2F2F2"/>
                </a:solidFill>
                <a:latin typeface="Calibri" pitchFamily="34" charset="0"/>
                <a:ea typeface="Calibri" pitchFamily="34" charset="-122"/>
                <a:cs typeface="Calibri" pitchFamily="34" charset="-120"/>
              </a:rPr>
              <a:t>, mostly </a:t>
            </a:r>
            <a:r>
              <a:rPr lang="en-US" sz="1400" b="1" dirty="0">
                <a:solidFill>
                  <a:srgbClr val="F5333F"/>
                </a:solidFill>
                <a:latin typeface="Calibri" pitchFamily="34" charset="0"/>
                <a:ea typeface="Calibri" pitchFamily="34" charset="-122"/>
                <a:cs typeface="Calibri" pitchFamily="34" charset="-120"/>
              </a:rPr>
              <a:t>25–50</a:t>
            </a:r>
            <a:endParaRPr lang="en-US" sz="1400" dirty="0"/>
          </a:p>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Movies</a:t>
            </a:r>
            <a:r>
              <a:rPr lang="en-US" sz="1400" dirty="0">
                <a:solidFill>
                  <a:srgbClr val="F2F2F2"/>
                </a:solidFill>
                <a:latin typeface="Calibri" pitchFamily="34" charset="0"/>
                <a:ea typeface="Calibri" pitchFamily="34" charset="-122"/>
                <a:cs typeface="Calibri" pitchFamily="34" charset="-120"/>
              </a:rPr>
              <a:t> are longer: average about </a:t>
            </a:r>
            <a:r>
              <a:rPr lang="en-US" sz="1400" b="1" dirty="0">
                <a:solidFill>
                  <a:srgbClr val="F5333F"/>
                </a:solidFill>
                <a:latin typeface="Calibri" pitchFamily="34" charset="0"/>
                <a:ea typeface="Calibri" pitchFamily="34" charset="-122"/>
                <a:cs typeface="Calibri" pitchFamily="34" charset="-120"/>
              </a:rPr>
              <a:t>100 min</a:t>
            </a:r>
            <a:r>
              <a:rPr lang="en-US" sz="1400" dirty="0">
                <a:solidFill>
                  <a:srgbClr val="F2F2F2"/>
                </a:solidFill>
                <a:latin typeface="Calibri" pitchFamily="34" charset="0"/>
                <a:ea typeface="Calibri" pitchFamily="34" charset="-122"/>
                <a:cs typeface="Calibri" pitchFamily="34" charset="-120"/>
              </a:rPr>
              <a:t>, mostly </a:t>
            </a:r>
            <a:r>
              <a:rPr lang="en-US" sz="1400" b="1" dirty="0">
                <a:solidFill>
                  <a:srgbClr val="F5333F"/>
                </a:solidFill>
                <a:latin typeface="Calibri" pitchFamily="34" charset="0"/>
                <a:ea typeface="Calibri" pitchFamily="34" charset="-122"/>
                <a:cs typeface="Calibri" pitchFamily="34" charset="-120"/>
              </a:rPr>
              <a:t>85–115</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The blue box shows where most content lies; dots are </a:t>
            </a:r>
            <a:r>
              <a:rPr lang="en-US" sz="1400" b="1" dirty="0">
                <a:solidFill>
                  <a:srgbClr val="F5333F"/>
                </a:solidFill>
                <a:latin typeface="Calibri" pitchFamily="34" charset="0"/>
                <a:ea typeface="Calibri" pitchFamily="34" charset="-122"/>
                <a:cs typeface="Calibri" pitchFamily="34" charset="-120"/>
              </a:rPr>
              <a:t>outliers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Movies have more outliers, up to </a:t>
            </a:r>
            <a:r>
              <a:rPr lang="en-US" sz="1400" b="1" dirty="0">
                <a:solidFill>
                  <a:srgbClr val="F5333F"/>
                </a:solidFill>
                <a:latin typeface="Calibri" pitchFamily="34" charset="0"/>
                <a:ea typeface="Calibri" pitchFamily="34" charset="-122"/>
                <a:cs typeface="Calibri" pitchFamily="34" charset="-120"/>
              </a:rPr>
              <a:t>240 min</a:t>
            </a:r>
            <a:r>
              <a:rPr lang="en-US" sz="1400" dirty="0">
                <a:solidFill>
                  <a:srgbClr val="F2F2F2"/>
                </a:solidFill>
                <a:latin typeface="Calibri" pitchFamily="34" charset="0"/>
                <a:ea typeface="Calibri" pitchFamily="34" charset="-122"/>
                <a:cs typeface="Calibri" pitchFamily="34" charset="-120"/>
              </a:rPr>
              <a:t>, and some very short ones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Where Does Netflix Content Come From?</a:t>
            </a:r>
            <a:endParaRPr lang="en-US" sz="2600" dirty="0"/>
          </a:p>
        </p:txBody>
      </p:sp>
      <p:sp>
        <p:nvSpPr>
          <p:cNvPr id="3" name="Shape 1"/>
          <p:cNvSpPr/>
          <p:nvPr/>
        </p:nvSpPr>
        <p:spPr>
          <a:xfrm>
            <a:off x="457200" y="1188720"/>
            <a:ext cx="4660896" cy="2834640"/>
          </a:xfrm>
          <a:prstGeom prst="roundRect">
            <a:avLst>
              <a:gd name="adj" fmla="val 2581"/>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ctry.png"/>
          <p:cNvPicPr>
            <a:picLocks noChangeAspect="1"/>
          </p:cNvPicPr>
          <p:nvPr/>
        </p:nvPicPr>
        <p:blipFill>
          <a:blip r:embed="rId4"/>
          <a:stretch>
            <a:fillRect/>
          </a:stretch>
        </p:blipFill>
        <p:spPr>
          <a:xfrm>
            <a:off x="548640" y="1280160"/>
            <a:ext cx="4478016" cy="2651760"/>
          </a:xfrm>
          <a:prstGeom prst="rect">
            <a:avLst/>
          </a:prstGeom>
        </p:spPr>
      </p:pic>
      <p:sp>
        <p:nvSpPr>
          <p:cNvPr id="5" name="Text 2"/>
          <p:cNvSpPr txBox="1"/>
          <p:nvPr/>
        </p:nvSpPr>
        <p:spPr>
          <a:xfrm>
            <a:off x="5592881" y="1154430"/>
            <a:ext cx="3248664"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The </a:t>
            </a:r>
            <a:r>
              <a:rPr lang="en-US" sz="1400" b="1" dirty="0">
                <a:solidFill>
                  <a:srgbClr val="F5333F"/>
                </a:solidFill>
                <a:latin typeface="Calibri" pitchFamily="34" charset="0"/>
                <a:ea typeface="Calibri" pitchFamily="34" charset="-122"/>
                <a:cs typeface="Calibri" pitchFamily="34" charset="-120"/>
              </a:rPr>
              <a:t>US</a:t>
            </a:r>
            <a:r>
              <a:rPr lang="en-US" sz="1400" dirty="0">
                <a:solidFill>
                  <a:srgbClr val="F2F2F2"/>
                </a:solidFill>
                <a:latin typeface="Calibri" pitchFamily="34" charset="0"/>
                <a:ea typeface="Calibri" pitchFamily="34" charset="-122"/>
                <a:cs typeface="Calibri" pitchFamily="34" charset="-120"/>
              </a:rPr>
              <a:t> leads by a huge margin with </a:t>
            </a:r>
            <a:r>
              <a:rPr lang="en-US" sz="1400" b="1" dirty="0">
                <a:solidFill>
                  <a:srgbClr val="F5333F"/>
                </a:solidFill>
                <a:latin typeface="Calibri" pitchFamily="34" charset="0"/>
                <a:ea typeface="Calibri" pitchFamily="34" charset="-122"/>
                <a:cs typeface="Calibri" pitchFamily="34" charset="-120"/>
              </a:rPr>
              <a:t>35.6%</a:t>
            </a:r>
            <a:r>
              <a:rPr lang="en-US" sz="1400" dirty="0">
                <a:solidFill>
                  <a:srgbClr val="F2F2F2"/>
                </a:solidFill>
                <a:latin typeface="Calibri" pitchFamily="34" charset="0"/>
                <a:ea typeface="Calibri" pitchFamily="34" charset="-122"/>
                <a:cs typeface="Calibri" pitchFamily="34" charset="-120"/>
              </a:rPr>
              <a:t> of titles</a:t>
            </a:r>
            <a:endParaRPr lang="en-US" sz="1400" dirty="0"/>
          </a:p>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India</a:t>
            </a:r>
            <a:r>
              <a:rPr lang="en-US" sz="1400" dirty="0">
                <a:solidFill>
                  <a:srgbClr val="F2F2F2"/>
                </a:solidFill>
                <a:latin typeface="Calibri" pitchFamily="34" charset="0"/>
                <a:ea typeface="Calibri" pitchFamily="34" charset="-122"/>
                <a:cs typeface="Calibri" pitchFamily="34" charset="-120"/>
              </a:rPr>
              <a:t> ranks second (</a:t>
            </a:r>
            <a:r>
              <a:rPr lang="en-US" sz="1400" b="1" dirty="0">
                <a:solidFill>
                  <a:srgbClr val="F5333F"/>
                </a:solidFill>
                <a:latin typeface="Calibri" pitchFamily="34" charset="0"/>
                <a:ea typeface="Calibri" pitchFamily="34" charset="-122"/>
                <a:cs typeface="Calibri" pitchFamily="34" charset="-120"/>
              </a:rPr>
              <a:t>9.5%</a:t>
            </a:r>
            <a:r>
              <a:rPr lang="en-US" sz="1400" dirty="0">
                <a:solidFill>
                  <a:srgbClr val="F2F2F2"/>
                </a:solidFill>
                <a:latin typeface="Calibri" pitchFamily="34" charset="0"/>
                <a:ea typeface="Calibri" pitchFamily="34" charset="-122"/>
                <a:cs typeface="Calibri" pitchFamily="34" charset="-120"/>
              </a:rPr>
              <a:t>), driven by Bollywood and Indian Originals</a:t>
            </a:r>
            <a:endParaRPr lang="en-US" sz="1400" dirty="0"/>
          </a:p>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UK, Japan and South Korea</a:t>
            </a:r>
            <a:r>
              <a:rPr lang="en-US" sz="1400" dirty="0">
                <a:solidFill>
                  <a:srgbClr val="F2F2F2"/>
                </a:solidFill>
                <a:latin typeface="Calibri" pitchFamily="34" charset="0"/>
                <a:ea typeface="Calibri" pitchFamily="34" charset="-122"/>
                <a:cs typeface="Calibri" pitchFamily="34" charset="-120"/>
              </a:rPr>
              <a:t> form strong regional hubs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Local content strategy: produce in key markets to retain regional subscribers</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Netflix is not dependent only on Hollywood.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Who Is Netflix Really Making Content For?</a:t>
            </a:r>
            <a:endParaRPr lang="en-US" sz="2600" dirty="0"/>
          </a:p>
        </p:txBody>
      </p:sp>
      <p:sp>
        <p:nvSpPr>
          <p:cNvPr id="3" name="Shape 1"/>
          <p:cNvSpPr/>
          <p:nvPr/>
        </p:nvSpPr>
        <p:spPr>
          <a:xfrm>
            <a:off x="457200" y="1400121"/>
            <a:ext cx="5120640" cy="2411837"/>
          </a:xfrm>
          <a:prstGeom prst="roundRect">
            <a:avLst>
              <a:gd name="adj" fmla="val 3033"/>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age.png"/>
          <p:cNvPicPr>
            <a:picLocks noChangeAspect="1"/>
          </p:cNvPicPr>
          <p:nvPr/>
        </p:nvPicPr>
        <p:blipFill>
          <a:blip r:embed="rId4"/>
          <a:stretch>
            <a:fillRect/>
          </a:stretch>
        </p:blipFill>
        <p:spPr>
          <a:xfrm>
            <a:off x="548640" y="1491561"/>
            <a:ext cx="4937760" cy="2228957"/>
          </a:xfrm>
          <a:prstGeom prst="rect">
            <a:avLst/>
          </a:prstGeom>
        </p:spPr>
      </p:pic>
      <p:sp>
        <p:nvSpPr>
          <p:cNvPr id="5" name="Text 2"/>
          <p:cNvSpPr txBox="1"/>
          <p:nvPr/>
        </p:nvSpPr>
        <p:spPr>
          <a:xfrm>
            <a:off x="5897880" y="1188720"/>
            <a:ext cx="2788920"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TV-MA</a:t>
            </a:r>
            <a:r>
              <a:rPr lang="en-US" sz="1400" dirty="0">
                <a:solidFill>
                  <a:srgbClr val="F2F2F2"/>
                </a:solidFill>
                <a:latin typeface="Calibri" pitchFamily="34" charset="0"/>
                <a:ea typeface="Calibri" pitchFamily="34" charset="-122"/>
                <a:cs typeface="Calibri" pitchFamily="34" charset="-120"/>
              </a:rPr>
              <a:t> dominates TV Shows: most series are rated for mature audiences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For Movies, </a:t>
            </a:r>
            <a:r>
              <a:rPr lang="en-US" sz="1400" b="1" dirty="0">
                <a:solidFill>
                  <a:srgbClr val="F5333F"/>
                </a:solidFill>
                <a:latin typeface="Calibri" pitchFamily="34" charset="0"/>
                <a:ea typeface="Calibri" pitchFamily="34" charset="-122"/>
                <a:cs typeface="Calibri" pitchFamily="34" charset="-120"/>
              </a:rPr>
              <a:t>R</a:t>
            </a:r>
            <a:r>
              <a:rPr lang="en-US" sz="1400" dirty="0">
                <a:solidFill>
                  <a:srgbClr val="F2F2F2"/>
                </a:solidFill>
                <a:latin typeface="Calibri" pitchFamily="34" charset="0"/>
                <a:ea typeface="Calibri" pitchFamily="34" charset="-122"/>
                <a:cs typeface="Calibri" pitchFamily="34" charset="-120"/>
              </a:rPr>
              <a:t> and </a:t>
            </a:r>
            <a:r>
              <a:rPr lang="en-US" sz="1400" b="1" dirty="0">
                <a:solidFill>
                  <a:srgbClr val="F5333F"/>
                </a:solidFill>
                <a:latin typeface="Calibri" pitchFamily="34" charset="0"/>
                <a:ea typeface="Calibri" pitchFamily="34" charset="-122"/>
                <a:cs typeface="Calibri" pitchFamily="34" charset="-120"/>
              </a:rPr>
              <a:t>TV-14</a:t>
            </a:r>
            <a:r>
              <a:rPr lang="en-US" sz="1400" dirty="0">
                <a:solidFill>
                  <a:srgbClr val="F2F2F2"/>
                </a:solidFill>
                <a:latin typeface="Calibri" pitchFamily="34" charset="0"/>
                <a:ea typeface="Calibri" pitchFamily="34" charset="-122"/>
                <a:cs typeface="Calibri" pitchFamily="34" charset="-120"/>
              </a:rPr>
              <a:t> are the top ratings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Very little </a:t>
            </a:r>
            <a:r>
              <a:rPr lang="en-US" sz="1400" b="1" dirty="0">
                <a:solidFill>
                  <a:srgbClr val="F5333F"/>
                </a:solidFill>
                <a:latin typeface="Calibri" pitchFamily="34" charset="0"/>
                <a:ea typeface="Calibri" pitchFamily="34" charset="-122"/>
                <a:cs typeface="Calibri" pitchFamily="34" charset="-120"/>
              </a:rPr>
              <a:t>G, PG or TV-Y</a:t>
            </a:r>
            <a:r>
              <a:rPr lang="en-US" sz="1400" dirty="0">
                <a:solidFill>
                  <a:srgbClr val="F2F2F2"/>
                </a:solidFill>
                <a:latin typeface="Calibri" pitchFamily="34" charset="0"/>
                <a:ea typeface="Calibri" pitchFamily="34" charset="-122"/>
                <a:cs typeface="Calibri" pitchFamily="34" charset="-120"/>
              </a:rPr>
              <a:t>: family and kids content is a small fraction</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Core strategy targets adult viewers aged </a:t>
            </a:r>
            <a:r>
              <a:rPr lang="en-US" sz="1400" b="1" dirty="0">
                <a:solidFill>
                  <a:srgbClr val="F5333F"/>
                </a:solidFill>
                <a:latin typeface="Calibri" pitchFamily="34" charset="0"/>
                <a:ea typeface="Calibri" pitchFamily="34" charset="-122"/>
                <a:cs typeface="Calibri" pitchFamily="34" charset="-120"/>
              </a:rPr>
              <a:t>18+</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Netflix mainly targets teenagers and adults.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Did Netflix's Rapid Growth Hurt Content Quality?</a:t>
            </a:r>
            <a:endParaRPr lang="en-US" sz="2600" dirty="0"/>
          </a:p>
        </p:txBody>
      </p:sp>
      <p:sp>
        <p:nvSpPr>
          <p:cNvPr id="3" name="Shape 1"/>
          <p:cNvSpPr/>
          <p:nvPr/>
        </p:nvSpPr>
        <p:spPr>
          <a:xfrm>
            <a:off x="457200" y="1400121"/>
            <a:ext cx="5120640" cy="2411837"/>
          </a:xfrm>
          <a:prstGeom prst="roundRect">
            <a:avLst>
              <a:gd name="adj" fmla="val 3033"/>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qual.png"/>
          <p:cNvPicPr>
            <a:picLocks noChangeAspect="1"/>
          </p:cNvPicPr>
          <p:nvPr/>
        </p:nvPicPr>
        <p:blipFill>
          <a:blip r:embed="rId4"/>
          <a:stretch>
            <a:fillRect/>
          </a:stretch>
        </p:blipFill>
        <p:spPr>
          <a:xfrm>
            <a:off x="548640" y="1491561"/>
            <a:ext cx="4937760" cy="2228957"/>
          </a:xfrm>
          <a:prstGeom prst="rect">
            <a:avLst/>
          </a:prstGeom>
        </p:spPr>
      </p:pic>
      <p:sp>
        <p:nvSpPr>
          <p:cNvPr id="5" name="Text 2"/>
          <p:cNvSpPr txBox="1"/>
          <p:nvPr/>
        </p:nvSpPr>
        <p:spPr>
          <a:xfrm>
            <a:off x="5897880" y="1188720"/>
            <a:ext cx="2788920"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TV Shows held a stable average IMDb score of </a:t>
            </a:r>
            <a:r>
              <a:rPr lang="en-US" sz="1400" b="1" dirty="0">
                <a:solidFill>
                  <a:srgbClr val="F5333F"/>
                </a:solidFill>
                <a:latin typeface="Calibri" pitchFamily="34" charset="0"/>
                <a:ea typeface="Calibri" pitchFamily="34" charset="-122"/>
                <a:cs typeface="Calibri" pitchFamily="34" charset="-120"/>
              </a:rPr>
              <a:t>6.8–7.2</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Movies dipped during </a:t>
            </a:r>
            <a:r>
              <a:rPr lang="en-US" sz="1400" b="1" dirty="0">
                <a:solidFill>
                  <a:srgbClr val="F5333F"/>
                </a:solidFill>
                <a:latin typeface="Calibri" pitchFamily="34" charset="0"/>
                <a:ea typeface="Calibri" pitchFamily="34" charset="-122"/>
                <a:cs typeface="Calibri" pitchFamily="34" charset="-120"/>
              </a:rPr>
              <a:t>2015–2021</a:t>
            </a:r>
            <a:r>
              <a:rPr lang="en-US" sz="1400" dirty="0">
                <a:solidFill>
                  <a:srgbClr val="F2F2F2"/>
                </a:solidFill>
                <a:latin typeface="Calibri" pitchFamily="34" charset="0"/>
                <a:ea typeface="Calibri" pitchFamily="34" charset="-122"/>
                <a:cs typeface="Calibri" pitchFamily="34" charset="-120"/>
              </a:rPr>
              <a:t>, the expansion phase (grey band)</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Volume over quality: thousands of films added rapidly, pulling the average down</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After 2021, movie scores show signs of recovery as Originals took focus</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Rapid growth may have affected movie ratings for some years.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How Do Netflix Metrics Relate?</a:t>
            </a:r>
            <a:endParaRPr lang="en-US" sz="2600" dirty="0"/>
          </a:p>
        </p:txBody>
      </p:sp>
      <p:sp>
        <p:nvSpPr>
          <p:cNvPr id="3" name="Shape 1"/>
          <p:cNvSpPr/>
          <p:nvPr/>
        </p:nvSpPr>
        <p:spPr>
          <a:xfrm>
            <a:off x="457200" y="1188720"/>
            <a:ext cx="3326186" cy="2834640"/>
          </a:xfrm>
          <a:prstGeom prst="roundRect">
            <a:avLst>
              <a:gd name="adj" fmla="val 2581"/>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heat.png"/>
          <p:cNvPicPr>
            <a:picLocks noChangeAspect="1"/>
          </p:cNvPicPr>
          <p:nvPr/>
        </p:nvPicPr>
        <p:blipFill>
          <a:blip r:embed="rId4"/>
          <a:stretch>
            <a:fillRect/>
          </a:stretch>
        </p:blipFill>
        <p:spPr>
          <a:xfrm>
            <a:off x="548640" y="1280160"/>
            <a:ext cx="3143306" cy="2651760"/>
          </a:xfrm>
          <a:prstGeom prst="rect">
            <a:avLst/>
          </a:prstGeom>
        </p:spPr>
      </p:pic>
      <p:sp>
        <p:nvSpPr>
          <p:cNvPr id="5" name="Text 2"/>
          <p:cNvSpPr txBox="1"/>
          <p:nvPr/>
        </p:nvSpPr>
        <p:spPr>
          <a:xfrm>
            <a:off x="4103426" y="1188720"/>
            <a:ext cx="4583374"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Pearson correlation across </a:t>
            </a:r>
            <a:r>
              <a:rPr lang="en-US" sz="1400" b="1" dirty="0">
                <a:solidFill>
                  <a:srgbClr val="F5333F"/>
                </a:solidFill>
                <a:latin typeface="Calibri" pitchFamily="34" charset="0"/>
                <a:ea typeface="Calibri" pitchFamily="34" charset="-122"/>
                <a:cs typeface="Calibri" pitchFamily="34" charset="-120"/>
              </a:rPr>
              <a:t>4 metrics</a:t>
            </a:r>
            <a:r>
              <a:rPr lang="en-US" sz="1400" dirty="0">
                <a:solidFill>
                  <a:srgbClr val="F2F2F2"/>
                </a:solidFill>
                <a:latin typeface="Calibri" pitchFamily="34" charset="0"/>
                <a:ea typeface="Calibri" pitchFamily="34" charset="-122"/>
                <a:cs typeface="Calibri" pitchFamily="34" charset="-120"/>
              </a:rPr>
              <a:t>: IMDb score, IMDb votes, TMDB score, TMDB popularity</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IMDb and TMDB scores show a moderate link (</a:t>
            </a:r>
            <a:r>
              <a:rPr lang="en-US" sz="1400" b="1" dirty="0">
                <a:solidFill>
                  <a:srgbClr val="F5333F"/>
                </a:solidFill>
                <a:latin typeface="Calibri" pitchFamily="34" charset="0"/>
                <a:ea typeface="Calibri" pitchFamily="34" charset="-122"/>
                <a:cs typeface="Calibri" pitchFamily="34" charset="-120"/>
              </a:rPr>
              <a:t>r = 0.57</a:t>
            </a:r>
            <a:r>
              <a:rPr lang="en-US" sz="1400" dirty="0">
                <a:solidFill>
                  <a:srgbClr val="F2F2F2"/>
                </a:solidFill>
                <a:latin typeface="Calibri" pitchFamily="34" charset="0"/>
                <a:ea typeface="Calibri" pitchFamily="34" charset="-122"/>
                <a:cs typeface="Calibri" pitchFamily="34" charset="-120"/>
              </a:rPr>
              <a:t>)</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IMDb votes have a weak link with scores (</a:t>
            </a:r>
            <a:r>
              <a:rPr lang="en-US" sz="1400" b="1" dirty="0">
                <a:solidFill>
                  <a:srgbClr val="F5333F"/>
                </a:solidFill>
                <a:latin typeface="Calibri" pitchFamily="34" charset="0"/>
                <a:ea typeface="Calibri" pitchFamily="34" charset="-122"/>
                <a:cs typeface="Calibri" pitchFamily="34" charset="-120"/>
              </a:rPr>
              <a:t>r = 0.19</a:t>
            </a:r>
            <a:r>
              <a:rPr lang="en-US" sz="1400" dirty="0">
                <a:solidFill>
                  <a:srgbClr val="F2F2F2"/>
                </a:solidFill>
                <a:latin typeface="Calibri" pitchFamily="34" charset="0"/>
                <a:ea typeface="Calibri" pitchFamily="34" charset="-122"/>
                <a:cs typeface="Calibri" pitchFamily="34" charset="-120"/>
              </a:rPr>
              <a:t>)</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TMDB popularity is nearly unrelated to scores (</a:t>
            </a:r>
            <a:r>
              <a:rPr lang="en-US" sz="1400" b="1" dirty="0">
                <a:solidFill>
                  <a:srgbClr val="F5333F"/>
                </a:solidFill>
                <a:latin typeface="Calibri" pitchFamily="34" charset="0"/>
                <a:ea typeface="Calibri" pitchFamily="34" charset="-122"/>
                <a:cs typeface="Calibri" pitchFamily="34" charset="-120"/>
              </a:rPr>
              <a:t>r = 0.02</a:t>
            </a:r>
            <a:r>
              <a:rPr lang="en-US" sz="1400" dirty="0">
                <a:solidFill>
                  <a:srgbClr val="F2F2F2"/>
                </a:solidFill>
                <a:latin typeface="Calibri" pitchFamily="34" charset="0"/>
                <a:ea typeface="Calibri" pitchFamily="34" charset="-122"/>
                <a:cs typeface="Calibri" pitchFamily="34" charset="-120"/>
              </a:rPr>
              <a:t> and </a:t>
            </a:r>
            <a:r>
              <a:rPr lang="en-US" sz="1400" b="1" dirty="0">
                <a:solidFill>
                  <a:srgbClr val="F5333F"/>
                </a:solidFill>
                <a:latin typeface="Calibri" pitchFamily="34" charset="0"/>
                <a:ea typeface="Calibri" pitchFamily="34" charset="-122"/>
                <a:cs typeface="Calibri" pitchFamily="34" charset="-120"/>
              </a:rPr>
              <a:t>0.08</a:t>
            </a:r>
            <a:r>
              <a:rPr lang="en-US" sz="1400" dirty="0">
                <a:solidFill>
                  <a:srgbClr val="F2F2F2"/>
                </a:solidFill>
                <a:latin typeface="Calibri" pitchFamily="34" charset="0"/>
                <a:ea typeface="Calibri" pitchFamily="34" charset="-122"/>
                <a:cs typeface="Calibri" pitchFamily="34" charset="-120"/>
              </a:rPr>
              <a:t>)</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Quality metrics move together, but popularity is separate.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Does Popularity Mean Quality?</a:t>
            </a:r>
            <a:endParaRPr lang="en-US" sz="2600" dirty="0"/>
          </a:p>
        </p:txBody>
      </p:sp>
      <p:sp>
        <p:nvSpPr>
          <p:cNvPr id="3" name="Shape 1"/>
          <p:cNvSpPr/>
          <p:nvPr/>
        </p:nvSpPr>
        <p:spPr>
          <a:xfrm>
            <a:off x="457200" y="1188720"/>
            <a:ext cx="3642795" cy="2834640"/>
          </a:xfrm>
          <a:prstGeom prst="roundRect">
            <a:avLst>
              <a:gd name="adj" fmla="val 2581"/>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scat.png"/>
          <p:cNvPicPr>
            <a:picLocks noChangeAspect="1"/>
          </p:cNvPicPr>
          <p:nvPr/>
        </p:nvPicPr>
        <p:blipFill>
          <a:blip r:embed="rId4"/>
          <a:stretch>
            <a:fillRect/>
          </a:stretch>
        </p:blipFill>
        <p:spPr>
          <a:xfrm>
            <a:off x="548640" y="1280160"/>
            <a:ext cx="3459915" cy="2651760"/>
          </a:xfrm>
          <a:prstGeom prst="rect">
            <a:avLst/>
          </a:prstGeom>
        </p:spPr>
      </p:pic>
      <p:sp>
        <p:nvSpPr>
          <p:cNvPr id="5" name="Text 2"/>
          <p:cNvSpPr txBox="1"/>
          <p:nvPr/>
        </p:nvSpPr>
        <p:spPr>
          <a:xfrm>
            <a:off x="4420035" y="1188720"/>
            <a:ext cx="4266765"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H₀</a:t>
            </a:r>
            <a:r>
              <a:rPr lang="en-US" sz="1400" dirty="0">
                <a:solidFill>
                  <a:srgbClr val="F2F2F2"/>
                </a:solidFill>
                <a:latin typeface="Calibri" pitchFamily="34" charset="0"/>
                <a:ea typeface="Calibri" pitchFamily="34" charset="-122"/>
                <a:cs typeface="Calibri" pitchFamily="34" charset="-120"/>
              </a:rPr>
              <a:t>: no linear relationship. </a:t>
            </a:r>
            <a:r>
              <a:rPr lang="en-US" sz="1400" b="1" dirty="0">
                <a:solidFill>
                  <a:srgbClr val="F5333F"/>
                </a:solidFill>
                <a:latin typeface="Calibri" pitchFamily="34" charset="0"/>
                <a:ea typeface="Calibri" pitchFamily="34" charset="-122"/>
                <a:cs typeface="Calibri" pitchFamily="34" charset="-120"/>
              </a:rPr>
              <a:t>H₁</a:t>
            </a:r>
            <a:r>
              <a:rPr lang="en-US" sz="1400" dirty="0">
                <a:solidFill>
                  <a:srgbClr val="F2F2F2"/>
                </a:solidFill>
                <a:latin typeface="Calibri" pitchFamily="34" charset="0"/>
                <a:ea typeface="Calibri" pitchFamily="34" charset="-122"/>
                <a:cs typeface="Calibri" pitchFamily="34" charset="-120"/>
              </a:rPr>
              <a:t>: a relationship exists</a:t>
            </a:r>
            <a:endParaRPr lang="en-US" sz="1400" dirty="0"/>
          </a:p>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r = 0.02</a:t>
            </a:r>
            <a:r>
              <a:rPr lang="en-US" sz="1400" dirty="0">
                <a:solidFill>
                  <a:srgbClr val="F2F2F2"/>
                </a:solidFill>
                <a:latin typeface="Calibri" pitchFamily="34" charset="0"/>
                <a:ea typeface="Calibri" pitchFamily="34" charset="-122"/>
                <a:cs typeface="Calibri" pitchFamily="34" charset="-120"/>
              </a:rPr>
              <a:t>, </a:t>
            </a:r>
            <a:r>
              <a:rPr lang="en-US" sz="1400" b="1" dirty="0">
                <a:solidFill>
                  <a:srgbClr val="F5333F"/>
                </a:solidFill>
                <a:latin typeface="Calibri" pitchFamily="34" charset="0"/>
                <a:ea typeface="Calibri" pitchFamily="34" charset="-122"/>
                <a:cs typeface="Calibri" pitchFamily="34" charset="-120"/>
              </a:rPr>
              <a:t>p = 0.1986</a:t>
            </a:r>
            <a:r>
              <a:rPr lang="en-US" sz="1400" dirty="0">
                <a:solidFill>
                  <a:srgbClr val="F2F2F2"/>
                </a:solidFill>
                <a:latin typeface="Calibri" pitchFamily="34" charset="0"/>
                <a:ea typeface="Calibri" pitchFamily="34" charset="-122"/>
                <a:cs typeface="Calibri" pitchFamily="34" charset="-120"/>
              </a:rPr>
              <a:t>, so p &gt; 0.05 and we fail to reject H₀</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Flat trend: high popularity appears at every score level</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Viral outliers (popularity above </a:t>
            </a:r>
            <a:r>
              <a:rPr lang="en-US" sz="1400" b="1" dirty="0">
                <a:solidFill>
                  <a:srgbClr val="F5333F"/>
                </a:solidFill>
                <a:latin typeface="Calibri" pitchFamily="34" charset="0"/>
                <a:ea typeface="Calibri" pitchFamily="34" charset="-122"/>
                <a:cs typeface="Calibri" pitchFamily="34" charset="-120"/>
              </a:rPr>
              <a:t>1000</a:t>
            </a:r>
            <a:r>
              <a:rPr lang="en-US" sz="1400" dirty="0">
                <a:solidFill>
                  <a:srgbClr val="F2F2F2"/>
                </a:solidFill>
                <a:latin typeface="Calibri" pitchFamily="34" charset="0"/>
                <a:ea typeface="Calibri" pitchFamily="34" charset="-122"/>
                <a:cs typeface="Calibri" pitchFamily="34" charset="-120"/>
              </a:rPr>
              <a:t>) have mixed scores (about </a:t>
            </a:r>
            <a:r>
              <a:rPr lang="en-US" sz="1400" b="1" dirty="0">
                <a:solidFill>
                  <a:srgbClr val="F5333F"/>
                </a:solidFill>
                <a:latin typeface="Calibri" pitchFamily="34" charset="0"/>
                <a:ea typeface="Calibri" pitchFamily="34" charset="-122"/>
                <a:cs typeface="Calibri" pitchFamily="34" charset="-120"/>
              </a:rPr>
              <a:t>3.7 to 8.8</a:t>
            </a:r>
            <a:r>
              <a:rPr lang="en-US" sz="1400" dirty="0">
                <a:solidFill>
                  <a:srgbClr val="F2F2F2"/>
                </a:solidFill>
                <a:latin typeface="Calibri" pitchFamily="34" charset="0"/>
                <a:ea typeface="Calibri" pitchFamily="34" charset="-122"/>
                <a:cs typeface="Calibri" pitchFamily="34" charset="-120"/>
              </a:rPr>
              <a:t>)</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Popularity does not predict review quality.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Top 10 Directors &amp; Actors</a:t>
            </a:r>
            <a:endParaRPr lang="en-US" sz="2600" dirty="0"/>
          </a:p>
        </p:txBody>
      </p:sp>
      <p:sp>
        <p:nvSpPr>
          <p:cNvPr id="3" name="Shape 1"/>
          <p:cNvSpPr/>
          <p:nvPr/>
        </p:nvSpPr>
        <p:spPr>
          <a:xfrm>
            <a:off x="457200" y="1188720"/>
            <a:ext cx="3753171" cy="2834640"/>
          </a:xfrm>
          <a:prstGeom prst="roundRect">
            <a:avLst>
              <a:gd name="adj" fmla="val 2581"/>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dir.png"/>
          <p:cNvPicPr>
            <a:picLocks noChangeAspect="1"/>
          </p:cNvPicPr>
          <p:nvPr/>
        </p:nvPicPr>
        <p:blipFill>
          <a:blip r:embed="rId4"/>
          <a:stretch>
            <a:fillRect/>
          </a:stretch>
        </p:blipFill>
        <p:spPr>
          <a:xfrm>
            <a:off x="548640" y="1280160"/>
            <a:ext cx="3570291" cy="2651760"/>
          </a:xfrm>
          <a:prstGeom prst="rect">
            <a:avLst/>
          </a:prstGeom>
        </p:spPr>
      </p:pic>
      <p:sp>
        <p:nvSpPr>
          <p:cNvPr id="5" name="Text 2"/>
          <p:cNvSpPr txBox="1"/>
          <p:nvPr/>
        </p:nvSpPr>
        <p:spPr>
          <a:xfrm>
            <a:off x="4530411" y="1188720"/>
            <a:ext cx="4156389" cy="2834640"/>
          </a:xfrm>
          <a:prstGeom prst="rect">
            <a:avLst/>
          </a:prstGeom>
          <a:noFill/>
          <a:ln/>
        </p:spPr>
        <p:txBody>
          <a:bodyPr wrap="square" lIns="0" tIns="0" rIns="0" bIns="0" rtlCol="0" anchor="ctr"/>
          <a:lstStyle/>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Filter: at least </a:t>
            </a:r>
            <a:r>
              <a:rPr lang="en-US" sz="1400" b="1" dirty="0">
                <a:solidFill>
                  <a:srgbClr val="F5333F"/>
                </a:solidFill>
                <a:latin typeface="Calibri" pitchFamily="34" charset="0"/>
                <a:ea typeface="Calibri" pitchFamily="34" charset="-122"/>
                <a:cs typeface="Calibri" pitchFamily="34" charset="-120"/>
              </a:rPr>
              <a:t>3 titles</a:t>
            </a:r>
            <a:r>
              <a:rPr lang="en-US" sz="1400" dirty="0">
                <a:solidFill>
                  <a:srgbClr val="F2F2F2"/>
                </a:solidFill>
                <a:latin typeface="Calibri" pitchFamily="34" charset="0"/>
                <a:ea typeface="Calibri" pitchFamily="34" charset="-122"/>
                <a:cs typeface="Calibri" pitchFamily="34" charset="-120"/>
              </a:rPr>
              <a:t>, which removes one-hit wonders</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Top 10 average about </a:t>
            </a:r>
            <a:r>
              <a:rPr lang="en-US" sz="1400" b="1" dirty="0">
                <a:solidFill>
                  <a:srgbClr val="F5333F"/>
                </a:solidFill>
                <a:latin typeface="Calibri" pitchFamily="34" charset="0"/>
                <a:ea typeface="Calibri" pitchFamily="34" charset="-122"/>
                <a:cs typeface="Calibri" pitchFamily="34" charset="-120"/>
              </a:rPr>
              <a:t>8.4 to 8.6</a:t>
            </a:r>
            <a:r>
              <a:rPr lang="en-US" sz="1400" dirty="0">
                <a:solidFill>
                  <a:srgbClr val="F2F2F2"/>
                </a:solidFill>
                <a:latin typeface="Calibri" pitchFamily="34" charset="0"/>
                <a:ea typeface="Calibri" pitchFamily="34" charset="-122"/>
                <a:cs typeface="Calibri" pitchFamily="34" charset="-120"/>
              </a:rPr>
              <a:t> IMDb, led by </a:t>
            </a:r>
            <a:r>
              <a:rPr lang="en-US" sz="1400" b="1" dirty="0">
                <a:solidFill>
                  <a:srgbClr val="F5333F"/>
                </a:solidFill>
                <a:latin typeface="Calibri" pitchFamily="34" charset="0"/>
                <a:ea typeface="Calibri" pitchFamily="34" charset="-122"/>
                <a:cs typeface="Calibri" pitchFamily="34" charset="-120"/>
              </a:rPr>
              <a:t>Choi Young-jun</a:t>
            </a:r>
            <a:endParaRPr lang="en-US" sz="1400" dirty="0"/>
          </a:p>
          <a:p>
            <a:pPr marL="285750" indent="-285750">
              <a:spcAft>
                <a:spcPts val="9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9 of 10</a:t>
            </a:r>
            <a:r>
              <a:rPr lang="en-US" sz="1400" dirty="0">
                <a:solidFill>
                  <a:srgbClr val="F2F2F2"/>
                </a:solidFill>
                <a:latin typeface="Calibri" pitchFamily="34" charset="0"/>
                <a:ea typeface="Calibri" pitchFamily="34" charset="-122"/>
                <a:cs typeface="Calibri" pitchFamily="34" charset="-120"/>
              </a:rPr>
              <a:t> are actors; </a:t>
            </a:r>
            <a:r>
              <a:rPr lang="en-US" sz="1400" b="1" dirty="0">
                <a:solidFill>
                  <a:srgbClr val="F5333F"/>
                </a:solidFill>
                <a:latin typeface="Calibri" pitchFamily="34" charset="0"/>
                <a:ea typeface="Calibri" pitchFamily="34" charset="-122"/>
                <a:cs typeface="Calibri" pitchFamily="34" charset="-120"/>
              </a:rPr>
              <a:t>Kim Won-seok</a:t>
            </a:r>
            <a:r>
              <a:rPr lang="en-US" sz="1400" dirty="0">
                <a:solidFill>
                  <a:srgbClr val="F2F2F2"/>
                </a:solidFill>
                <a:latin typeface="Calibri" pitchFamily="34" charset="0"/>
                <a:ea typeface="Calibri" pitchFamily="34" charset="-122"/>
                <a:cs typeface="Calibri" pitchFamily="34" charset="-120"/>
              </a:rPr>
              <a:t> is the only director</a:t>
            </a:r>
            <a:endParaRPr lang="en-US" sz="1400" dirty="0"/>
          </a:p>
          <a:p>
            <a:pPr marL="285750" indent="-285750">
              <a:spcAft>
                <a:spcPts val="9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Scores are tightly clustered, so quality is sustained across titles</a:t>
            </a:r>
            <a:endParaRPr lang="en-US" sz="1400" dirty="0"/>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Reliable, low-risk talent for Netflix to keep investing in.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731520"/>
          </a:xfrm>
          <a:prstGeom prst="rect">
            <a:avLst/>
          </a:prstGeom>
          <a:noFill/>
          <a:ln/>
        </p:spPr>
        <p:txBody>
          <a:bodyPr wrap="square" lIns="0" tIns="0" rIns="0" bIns="0" rtlCol="0" anchor="ctr">
            <a:normAutofit/>
          </a:bodyPr>
          <a:lstStyle/>
          <a:p>
            <a:pPr marL="0" indent="0">
              <a:buNone/>
            </a:pPr>
            <a:r>
              <a:rPr lang="en-US" sz="2600" b="1" dirty="0">
                <a:solidFill>
                  <a:srgbClr val="FFFFFF"/>
                </a:solidFill>
                <a:latin typeface="Arial" pitchFamily="34" charset="0"/>
                <a:ea typeface="Arial" pitchFamily="34" charset="-122"/>
                <a:cs typeface="Arial" pitchFamily="34" charset="-120"/>
              </a:rPr>
              <a:t>Genre Strategy: Volume vs Quality</a:t>
            </a:r>
            <a:endParaRPr lang="en-US" sz="2600" dirty="0"/>
          </a:p>
        </p:txBody>
      </p:sp>
      <p:sp>
        <p:nvSpPr>
          <p:cNvPr id="3" name="Shape 1"/>
          <p:cNvSpPr/>
          <p:nvPr/>
        </p:nvSpPr>
        <p:spPr>
          <a:xfrm>
            <a:off x="457200" y="1188720"/>
            <a:ext cx="4206240" cy="2834640"/>
          </a:xfrm>
          <a:prstGeom prst="roundRect">
            <a:avLst>
              <a:gd name="adj" fmla="val 2581"/>
            </a:avLst>
          </a:prstGeom>
          <a:solidFill>
            <a:srgbClr val="FFFFFF"/>
          </a:solidFill>
          <a:ln w="12700">
            <a:solidFill>
              <a:srgbClr val="FFFFFF"/>
            </a:solidFill>
            <a:prstDash val="solid"/>
          </a:ln>
          <a:effectLst>
            <a:outerShdw blurRad="101600" dist="38100" dir="5400000" algn="bl" rotWithShape="0">
              <a:srgbClr val="000000">
                <a:alpha val="40000"/>
              </a:srgbClr>
            </a:outerShdw>
          </a:effectLst>
        </p:spPr>
      </p:sp>
      <p:pic>
        <p:nvPicPr>
          <p:cNvPr id="4" name="Image 0" descr="Four-quadrant bubble plot of genre volume vs IMDb quality"/>
          <p:cNvPicPr>
            <a:picLocks noChangeAspect="1"/>
          </p:cNvPicPr>
          <p:nvPr/>
        </p:nvPicPr>
        <p:blipFill>
          <a:blip r:embed="rId3"/>
          <a:stretch>
            <a:fillRect/>
          </a:stretch>
        </p:blipFill>
        <p:spPr>
          <a:xfrm>
            <a:off x="548640" y="1279927"/>
            <a:ext cx="4023360" cy="2652225"/>
          </a:xfrm>
          <a:prstGeom prst="rect">
            <a:avLst/>
          </a:prstGeom>
        </p:spPr>
      </p:pic>
      <p:sp>
        <p:nvSpPr>
          <p:cNvPr id="5" name="Text 2"/>
          <p:cNvSpPr txBox="1"/>
          <p:nvPr/>
        </p:nvSpPr>
        <p:spPr>
          <a:xfrm>
            <a:off x="4892040" y="1188720"/>
            <a:ext cx="3794760" cy="2834640"/>
          </a:xfrm>
          <a:prstGeom prst="rect">
            <a:avLst/>
          </a:prstGeom>
          <a:noFill/>
          <a:ln/>
        </p:spPr>
        <p:txBody>
          <a:bodyPr wrap="square" lIns="0" tIns="0" rIns="0" bIns="0" rtlCol="0" anchor="ctr"/>
          <a:lstStyle/>
          <a:p>
            <a:pPr marL="285750" indent="-285750">
              <a:spcAft>
                <a:spcPts val="8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Prestige Anchors: Drama</a:t>
            </a:r>
            <a:r>
              <a:rPr lang="en-US" sz="1400" dirty="0">
                <a:solidFill>
                  <a:srgbClr val="F2F2F2"/>
                </a:solidFill>
                <a:latin typeface="Calibri" pitchFamily="34" charset="0"/>
                <a:ea typeface="Calibri" pitchFamily="34" charset="-122"/>
                <a:cs typeface="Calibri" pitchFamily="34" charset="-120"/>
              </a:rPr>
              <a:t> (~2,800 titles), Crime, Documentary and Animation pair high volume with above-average scores</a:t>
            </a:r>
          </a:p>
          <a:p>
            <a:pPr marL="285750" indent="-285750">
              <a:spcAft>
                <a:spcPts val="8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Retention Filler: Comedy, Thriller, Action</a:t>
            </a:r>
            <a:r>
              <a:rPr lang="en-US" sz="1400" dirty="0">
                <a:solidFill>
                  <a:srgbClr val="F2F2F2"/>
                </a:solidFill>
                <a:latin typeface="Calibri" pitchFamily="34" charset="0"/>
                <a:ea typeface="Calibri" pitchFamily="34" charset="-122"/>
                <a:cs typeface="Calibri" pitchFamily="34" charset="-120"/>
              </a:rPr>
              <a:t> and Romance have big catalogs but score below average</a:t>
            </a:r>
          </a:p>
          <a:p>
            <a:pPr marL="285750" indent="-285750">
              <a:spcAft>
                <a:spcPts val="8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History</a:t>
            </a:r>
            <a:r>
              <a:rPr lang="en-US" sz="1400" dirty="0">
                <a:solidFill>
                  <a:srgbClr val="F2F2F2"/>
                </a:solidFill>
                <a:latin typeface="Calibri" pitchFamily="34" charset="0"/>
                <a:ea typeface="Calibri" pitchFamily="34" charset="-122"/>
                <a:cs typeface="Calibri" pitchFamily="34" charset="-120"/>
              </a:rPr>
              <a:t> and </a:t>
            </a:r>
            <a:r>
              <a:rPr lang="en-US" sz="1400" b="1" dirty="0">
                <a:solidFill>
                  <a:srgbClr val="F5333F"/>
                </a:solidFill>
                <a:latin typeface="Calibri" pitchFamily="34" charset="0"/>
                <a:ea typeface="Calibri" pitchFamily="34" charset="-122"/>
                <a:cs typeface="Calibri" pitchFamily="34" charset="-120"/>
              </a:rPr>
              <a:t>War</a:t>
            </a:r>
            <a:r>
              <a:rPr lang="en-US" sz="1400" dirty="0">
                <a:solidFill>
                  <a:srgbClr val="F2F2F2"/>
                </a:solidFill>
                <a:latin typeface="Calibri" pitchFamily="34" charset="0"/>
                <a:ea typeface="Calibri" pitchFamily="34" charset="-122"/>
                <a:cs typeface="Calibri" pitchFamily="34" charset="-120"/>
              </a:rPr>
              <a:t> score highest (~7.1) yet have under 300 titles each</a:t>
            </a:r>
          </a:p>
          <a:p>
            <a:pPr marL="285750" indent="-285750">
              <a:spcAft>
                <a:spcPts val="800"/>
              </a:spcAft>
              <a:buFont typeface="Arial" panose="020B0604020202020204" pitchFamily="34" charset="0"/>
              <a:buChar char="•"/>
            </a:pPr>
            <a:r>
              <a:rPr lang="en-US" sz="1400" b="1" dirty="0">
                <a:solidFill>
                  <a:srgbClr val="F5333F"/>
                </a:solidFill>
                <a:latin typeface="Calibri" pitchFamily="34" charset="0"/>
                <a:ea typeface="Calibri" pitchFamily="34" charset="-122"/>
                <a:cs typeface="Calibri" pitchFamily="34" charset="-120"/>
              </a:rPr>
              <a:t>Horror</a:t>
            </a:r>
            <a:r>
              <a:rPr lang="en-US" sz="1400" dirty="0">
                <a:solidFill>
                  <a:srgbClr val="F2F2F2"/>
                </a:solidFill>
                <a:latin typeface="Calibri" pitchFamily="34" charset="0"/>
                <a:ea typeface="Calibri" pitchFamily="34" charset="-122"/>
                <a:cs typeface="Calibri" pitchFamily="34" charset="-120"/>
              </a:rPr>
              <a:t> is the weakest genre, with the lowest average score (~6.0)</a:t>
            </a:r>
          </a:p>
          <a:p>
            <a:pPr marL="285750" indent="-285750">
              <a:spcAft>
                <a:spcPts val="800"/>
              </a:spcAft>
              <a:buFont typeface="Arial" panose="020B0604020202020204" pitchFamily="34" charset="0"/>
              <a:buChar char="•"/>
            </a:pPr>
            <a:r>
              <a:rPr lang="en-US" sz="1400" dirty="0">
                <a:solidFill>
                  <a:srgbClr val="F2F2F2"/>
                </a:solidFill>
                <a:latin typeface="Calibri" pitchFamily="34" charset="0"/>
                <a:ea typeface="Calibri" pitchFamily="34" charset="-122"/>
                <a:cs typeface="Calibri" pitchFamily="34" charset="-120"/>
              </a:rPr>
              <a:t>Bubble size = volume; dashed lines mark average volume and average score</a:t>
            </a:r>
          </a:p>
        </p:txBody>
      </p:sp>
      <p:sp>
        <p:nvSpPr>
          <p:cNvPr id="6" name="Shape 3"/>
          <p:cNvSpPr/>
          <p:nvPr/>
        </p:nvSpPr>
        <p:spPr>
          <a:xfrm>
            <a:off x="457200" y="4206240"/>
            <a:ext cx="8229600" cy="548640"/>
          </a:xfrm>
          <a:prstGeom prst="roundRect">
            <a:avLst>
              <a:gd name="adj" fmla="val 13333"/>
            </a:avLst>
          </a:prstGeom>
          <a:solidFill>
            <a:srgbClr val="2B1416"/>
          </a:solidFill>
          <a:ln w="12700">
            <a:solidFill>
              <a:srgbClr val="2B1416"/>
            </a:solidFill>
            <a:prstDash val="solid"/>
          </a:ln>
        </p:spPr>
      </p:sp>
      <p:sp>
        <p:nvSpPr>
          <p:cNvPr id="7" name="Text 4"/>
          <p:cNvSpPr txBox="1"/>
          <p:nvPr/>
        </p:nvSpPr>
        <p:spPr>
          <a:xfrm>
            <a:off x="640080" y="4206240"/>
            <a:ext cx="7863840" cy="548640"/>
          </a:xfrm>
          <a:prstGeom prst="rect">
            <a:avLst/>
          </a:prstGeom>
          <a:noFill/>
          <a:ln/>
        </p:spPr>
        <p:txBody>
          <a:bodyPr wrap="square" lIns="0" tIns="0" rIns="0" bIns="0" rtlCol="0" anchor="ctr"/>
          <a:lstStyle/>
          <a:p>
            <a:pPr marL="0" indent="0">
              <a:buNone/>
            </a:pPr>
            <a:r>
              <a:rPr lang="en-US" sz="1200" b="1" kern="0" spc="200" dirty="0">
                <a:solidFill>
                  <a:srgbClr val="F5333F"/>
                </a:solidFill>
                <a:latin typeface="Calibri" pitchFamily="34" charset="0"/>
                <a:ea typeface="Calibri" pitchFamily="34" charset="-122"/>
                <a:cs typeface="Calibri" pitchFamily="34" charset="-120"/>
              </a:rPr>
              <a:t>TAKEAWAY   </a:t>
            </a:r>
            <a:r>
              <a:rPr lang="en-US" sz="1500" dirty="0">
                <a:solidFill>
                  <a:srgbClr val="FFFFFF"/>
                </a:solidFill>
                <a:latin typeface="Calibri" pitchFamily="34" charset="0"/>
                <a:ea typeface="Calibri" pitchFamily="34" charset="-122"/>
                <a:cs typeface="Calibri" pitchFamily="34" charset="-120"/>
              </a:rPr>
              <a:t>Volume does not equal quality; scale the high-scoring niches.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2"/>
          <p:cNvSpPr txBox="1"/>
          <p:nvPr/>
        </p:nvSpPr>
        <p:spPr>
          <a:xfrm>
            <a:off x="548640" y="380000"/>
            <a:ext cx="2400000" cy="330000"/>
          </a:xfrm>
          <a:prstGeom prst="rect">
            <a:avLst/>
          </a:prstGeom>
          <a:noFill/>
        </p:spPr>
        <p:txBody>
          <a:bodyPr wrap="square" lIns="0" tIns="0" rIns="0" bIns="0" rtlCol="0" anchor="ctr"/>
          <a:lstStyle/>
          <a:p>
            <a:pPr marL="0" indent="0" algn="l">
              <a:buNone/>
            </a:pPr>
            <a:r>
              <a:rPr lang="en-US" sz="2200" b="1" spc="300" dirty="0">
                <a:solidFill>
                  <a:srgbClr val="E50914"/>
                </a:solidFill>
                <a:latin typeface="Arial"/>
                <a:ea typeface="Arial"/>
                <a:cs typeface="Arial"/>
              </a:rPr>
              <a:t>NETFLIX</a:t>
            </a:r>
          </a:p>
        </p:txBody>
      </p:sp>
      <p:sp>
        <p:nvSpPr>
          <p:cNvPr id="3" name="Shape 3"/>
          <p:cNvSpPr/>
          <p:nvPr/>
        </p:nvSpPr>
        <p:spPr>
          <a:xfrm>
            <a:off x="3932000" y="650000"/>
            <a:ext cx="1280000" cy="1280000"/>
          </a:xfrm>
          <a:prstGeom prst="ellipse">
            <a:avLst/>
          </a:prstGeom>
          <a:noFill/>
          <a:ln w="9525">
            <a:solidFill>
              <a:srgbClr val="3A1A1D"/>
            </a:solidFill>
          </a:ln>
        </p:spPr>
      </p:sp>
      <p:sp>
        <p:nvSpPr>
          <p:cNvPr id="4" name="Shape 4"/>
          <p:cNvSpPr/>
          <p:nvPr/>
        </p:nvSpPr>
        <p:spPr>
          <a:xfrm>
            <a:off x="4072000" y="790000"/>
            <a:ext cx="1000000" cy="1000000"/>
          </a:xfrm>
          <a:prstGeom prst="ellipse">
            <a:avLst/>
          </a:prstGeom>
          <a:noFill/>
          <a:ln w="9525">
            <a:solidFill>
              <a:srgbClr val="5A2A2E"/>
            </a:solidFill>
          </a:ln>
        </p:spPr>
      </p:sp>
      <p:sp>
        <p:nvSpPr>
          <p:cNvPr id="5" name="Shape 5"/>
          <p:cNvSpPr/>
          <p:nvPr/>
        </p:nvSpPr>
        <p:spPr>
          <a:xfrm>
            <a:off x="4192000" y="910000"/>
            <a:ext cx="760000" cy="760000"/>
          </a:xfrm>
          <a:prstGeom prst="ellipse">
            <a:avLst/>
          </a:prstGeom>
          <a:solidFill>
            <a:srgbClr val="E50914"/>
          </a:solidFill>
          <a:ln>
            <a:noFill/>
          </a:ln>
        </p:spPr>
      </p:sp>
      <p:sp>
        <p:nvSpPr>
          <p:cNvPr id="7" name="Netflix N bar 7"/>
          <p:cNvSpPr/>
          <p:nvPr/>
        </p:nvSpPr>
        <p:spPr>
          <a:xfrm>
            <a:off x="4437000" y="1090000"/>
            <a:ext cx="70000" cy="400000"/>
          </a:xfrm>
          <a:prstGeom prst="rect">
            <a:avLst/>
          </a:prstGeom>
          <a:solidFill>
            <a:srgbClr val="FFFFFF"/>
          </a:solidFill>
          <a:ln>
            <a:noFill/>
          </a:ln>
        </p:spPr>
      </p:sp>
      <p:sp>
        <p:nvSpPr>
          <p:cNvPr id="8" name="Netflix N bar 8"/>
          <p:cNvSpPr/>
          <p:nvPr/>
        </p:nvSpPr>
        <p:spPr>
          <a:xfrm>
            <a:off x="4637000" y="1090000"/>
            <a:ext cx="70000" cy="400000"/>
          </a:xfrm>
          <a:prstGeom prst="rect">
            <a:avLst/>
          </a:prstGeom>
          <a:solidFill>
            <a:srgbClr val="FFFFFF"/>
          </a:solidFill>
          <a:ln>
            <a:noFill/>
          </a:ln>
        </p:spPr>
      </p:sp>
      <p:sp>
        <p:nvSpPr>
          <p:cNvPr id="6" name="Netflix N diagonal"/>
          <p:cNvSpPr/>
          <p:nvPr/>
        </p:nvSpPr>
        <p:spPr>
          <a:xfrm>
            <a:off x="4437000" y="1090000"/>
            <a:ext cx="270000" cy="400000"/>
          </a:xfrm>
          <a:custGeom>
            <a:avLst/>
            <a:gdLst/>
            <a:ahLst/>
            <a:cxnLst/>
            <a:rect l="0" t="0" r="r" b="b"/>
            <a:pathLst>
              <a:path w="270000" h="400000">
                <a:moveTo>
                  <a:pt x="0" y="0"/>
                </a:moveTo>
                <a:lnTo>
                  <a:pt x="70000" y="0"/>
                </a:lnTo>
                <a:lnTo>
                  <a:pt x="270000" y="400000"/>
                </a:lnTo>
                <a:lnTo>
                  <a:pt x="200000" y="400000"/>
                </a:lnTo>
                <a:close/>
              </a:path>
            </a:pathLst>
          </a:custGeom>
          <a:solidFill>
            <a:srgbClr val="E3D2D3"/>
          </a:solidFill>
          <a:ln>
            <a:noFill/>
          </a:ln>
        </p:spPr>
      </p:sp>
      <p:sp>
        <p:nvSpPr>
          <p:cNvPr id="9" name="Text 9"/>
          <p:cNvSpPr txBox="1"/>
          <p:nvPr/>
        </p:nvSpPr>
        <p:spPr>
          <a:xfrm>
            <a:off x="0" y="2150000"/>
            <a:ext cx="9144000" cy="760000"/>
          </a:xfrm>
          <a:prstGeom prst="rect">
            <a:avLst/>
          </a:prstGeom>
          <a:noFill/>
        </p:spPr>
        <p:txBody>
          <a:bodyPr wrap="square" lIns="0" tIns="0" rIns="0" bIns="0" rtlCol="0" anchor="ctr"/>
          <a:lstStyle/>
          <a:p>
            <a:pPr marL="0" indent="0" algn="ctr">
              <a:buNone/>
            </a:pPr>
            <a:r>
              <a:rPr lang="en-US" sz="4400" b="1" dirty="0">
                <a:solidFill>
                  <a:srgbClr val="FFFFFF"/>
                </a:solidFill>
                <a:latin typeface="Arial"/>
                <a:ea typeface="Arial"/>
                <a:cs typeface="Arial"/>
              </a:rPr>
              <a:t>Thank You</a:t>
            </a:r>
          </a:p>
        </p:txBody>
      </p:sp>
      <p:sp>
        <p:nvSpPr>
          <p:cNvPr id="10" name="Text 10"/>
          <p:cNvSpPr txBox="1"/>
          <p:nvPr/>
        </p:nvSpPr>
        <p:spPr>
          <a:xfrm>
            <a:off x="0" y="2950000"/>
            <a:ext cx="9144000" cy="274320"/>
          </a:xfrm>
          <a:prstGeom prst="rect">
            <a:avLst/>
          </a:prstGeom>
          <a:noFill/>
        </p:spPr>
        <p:txBody>
          <a:bodyPr wrap="square" lIns="0" tIns="0" rIns="0" bIns="0" rtlCol="0" anchor="ctr"/>
          <a:lstStyle/>
          <a:p>
            <a:pPr marL="0" indent="0" algn="ctr">
              <a:buNone/>
            </a:pPr>
            <a:endParaRPr lang="en-US" sz="1200" b="1" spc="300" dirty="0">
              <a:solidFill>
                <a:srgbClr val="F5333F"/>
              </a:solidFill>
              <a:latin typeface="Arial"/>
              <a:ea typeface="Arial"/>
              <a:cs typeface="Arial"/>
            </a:endParaRPr>
          </a:p>
        </p:txBody>
      </p:sp>
      <p:sp>
        <p:nvSpPr>
          <p:cNvPr id="11" name="Shape 11"/>
          <p:cNvSpPr/>
          <p:nvPr/>
        </p:nvSpPr>
        <p:spPr>
          <a:xfrm>
            <a:off x="3221503" y="3450000"/>
            <a:ext cx="2954214" cy="420000"/>
          </a:xfrm>
          <a:prstGeom prst="roundRect">
            <a:avLst>
              <a:gd name="adj" fmla="val 30000"/>
            </a:avLst>
          </a:prstGeom>
          <a:solidFill>
            <a:srgbClr val="2B1416"/>
          </a:solidFill>
          <a:ln w="12700">
            <a:solidFill>
              <a:srgbClr val="E50914"/>
            </a:solidFill>
          </a:ln>
        </p:spPr>
        <p:txBody>
          <a:bodyPr wrap="square" lIns="0" tIns="0" rIns="0" bIns="0" rtlCol="0" anchor="ctr"/>
          <a:lstStyle/>
          <a:p>
            <a:pPr marL="0" indent="0" algn="ctr">
              <a:buNone/>
            </a:pPr>
            <a:r>
              <a:rPr lang="en-US" sz="1400" b="1" spc="300" dirty="0">
                <a:solidFill>
                  <a:srgbClr val="FFFFFF"/>
                </a:solidFill>
                <a:latin typeface="Arial"/>
                <a:ea typeface="Arial"/>
                <a:cs typeface="Arial"/>
              </a:rPr>
              <a:t>- TEAM  TECHNOVA</a:t>
            </a:r>
          </a:p>
        </p:txBody>
      </p:sp>
      <p:sp>
        <p:nvSpPr>
          <p:cNvPr id="12" name="Text 12"/>
          <p:cNvSpPr txBox="1"/>
          <p:nvPr/>
        </p:nvSpPr>
        <p:spPr>
          <a:xfrm>
            <a:off x="135000" y="2980000"/>
            <a:ext cx="9144000" cy="260000"/>
          </a:xfrm>
          <a:prstGeom prst="rect">
            <a:avLst/>
          </a:prstGeom>
          <a:noFill/>
        </p:spPr>
        <p:txBody>
          <a:bodyPr wrap="square" lIns="0" tIns="0" rIns="0" bIns="0" rtlCol="0" anchor="ctr"/>
          <a:lstStyle/>
          <a:p>
            <a:pPr marL="0" indent="0" algn="ctr">
              <a:buNone/>
            </a:pPr>
            <a:r>
              <a:rPr lang="en-US" sz="1200" b="0" dirty="0">
                <a:solidFill>
                  <a:srgbClr val="B3B3B3"/>
                </a:solidFill>
                <a:latin typeface="Arial"/>
                <a:ea typeface="Arial"/>
                <a:cs typeface="Arial"/>
              </a:rPr>
              <a:t>Netflix Content Analysis: Trends, Success Drivers &amp; Content Gaps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1486</Words>
  <Application>Microsoft Office PowerPoint</Application>
  <PresentationFormat>On-screen Show (16:9)</PresentationFormat>
  <Paragraphs>115</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Netflix Content Analysis</dc:title>
  <dc:subject>PptxGenJS Presentation</dc:subject>
  <dc:creator>PptxGenJS</dc:creator>
  <cp:lastModifiedBy>Jennifer Beulah</cp:lastModifiedBy>
  <cp:revision>2</cp:revision>
  <dcterms:created xsi:type="dcterms:W3CDTF">2026-09-30T15:08:46Z</dcterms:created>
  <dcterms:modified xsi:type="dcterms:W3CDTF">2026-10-01T19:41:43Z</dcterms:modified>
</cp:coreProperties>
</file>